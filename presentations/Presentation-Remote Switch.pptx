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58" r:id="rId5"/>
    <p:sldId id="260"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22" d="100"/>
          <a:sy n="122" d="100"/>
        </p:scale>
        <p:origin x="87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AA2EA-3F6F-4B73-9DC0-15096289A68A}"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74C190-0FEF-43FF-AF43-44A2AA9DF741}" type="slidenum">
              <a:rPr lang="en-US" smtClean="0"/>
              <a:t>‹#›</a:t>
            </a:fld>
            <a:endParaRPr lang="en-US"/>
          </a:p>
        </p:txBody>
      </p:sp>
    </p:spTree>
    <p:extLst>
      <p:ext uri="{BB962C8B-B14F-4D97-AF65-F5344CB8AC3E}">
        <p14:creationId xmlns:p14="http://schemas.microsoft.com/office/powerpoint/2010/main" val="1858709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a specific need and wanted a specific solution.  I could not find what I wanted on the market that ticked all my boxes, and I also have the XYL to keep happy too.  Most solutions relied on electrical relays which requires constant voltage, making the power usage quite wasteful and increases the cost of power equipment.</a:t>
            </a:r>
          </a:p>
        </p:txBody>
      </p:sp>
      <p:sp>
        <p:nvSpPr>
          <p:cNvPr id="4" name="Slide Number Placeholder 3"/>
          <p:cNvSpPr>
            <a:spLocks noGrp="1"/>
          </p:cNvSpPr>
          <p:nvPr>
            <p:ph type="sldNum" sz="quarter" idx="5"/>
          </p:nvPr>
        </p:nvSpPr>
        <p:spPr/>
        <p:txBody>
          <a:bodyPr/>
          <a:lstStyle/>
          <a:p>
            <a:fld id="{AE74C190-0FEF-43FF-AF43-44A2AA9DF741}" type="slidenum">
              <a:rPr lang="en-US" smtClean="0"/>
              <a:t>2</a:t>
            </a:fld>
            <a:endParaRPr lang="en-US"/>
          </a:p>
        </p:txBody>
      </p:sp>
    </p:spTree>
    <p:extLst>
      <p:ext uri="{BB962C8B-B14F-4D97-AF65-F5344CB8AC3E}">
        <p14:creationId xmlns:p14="http://schemas.microsoft.com/office/powerpoint/2010/main" val="1877679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looking at what I had on hand already (</a:t>
            </a:r>
            <a:r>
              <a:rPr lang="en-US" dirty="0" err="1"/>
              <a:t>Heltecs</a:t>
            </a:r>
            <a:r>
              <a:rPr lang="en-US" dirty="0"/>
              <a:t>, solar panel, battery, cabinet) I came up with this solution.  </a:t>
            </a:r>
          </a:p>
        </p:txBody>
      </p:sp>
      <p:sp>
        <p:nvSpPr>
          <p:cNvPr id="4" name="Slide Number Placeholder 3"/>
          <p:cNvSpPr>
            <a:spLocks noGrp="1"/>
          </p:cNvSpPr>
          <p:nvPr>
            <p:ph type="sldNum" sz="quarter" idx="5"/>
          </p:nvPr>
        </p:nvSpPr>
        <p:spPr/>
        <p:txBody>
          <a:bodyPr/>
          <a:lstStyle/>
          <a:p>
            <a:fld id="{AE74C190-0FEF-43FF-AF43-44A2AA9DF741}" type="slidenum">
              <a:rPr lang="en-US" smtClean="0"/>
              <a:t>3</a:t>
            </a:fld>
            <a:endParaRPr lang="en-US"/>
          </a:p>
        </p:txBody>
      </p:sp>
    </p:spTree>
    <p:extLst>
      <p:ext uri="{BB962C8B-B14F-4D97-AF65-F5344CB8AC3E}">
        <p14:creationId xmlns:p14="http://schemas.microsoft.com/office/powerpoint/2010/main" val="552520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inside </a:t>
            </a:r>
            <a:r>
              <a:rPr lang="en-US" dirty="0" err="1"/>
              <a:t>heltec</a:t>
            </a:r>
            <a:r>
              <a:rPr lang="en-US" dirty="0"/>
              <a:t> runs the server on the microcontroller itself and sends commands to the outside </a:t>
            </a:r>
            <a:r>
              <a:rPr lang="en-US" dirty="0" err="1"/>
              <a:t>heltec</a:t>
            </a:r>
            <a:r>
              <a:rPr lang="en-US" dirty="0"/>
              <a:t>.  The outside </a:t>
            </a:r>
            <a:r>
              <a:rPr lang="en-US" dirty="0" err="1"/>
              <a:t>heltec</a:t>
            </a:r>
            <a:r>
              <a:rPr lang="en-US" dirty="0"/>
              <a:t> receives the commands, sends commands to the servo which rotates the antenna switch to the desired antenna, then the </a:t>
            </a:r>
            <a:r>
              <a:rPr lang="en-US" dirty="0" err="1"/>
              <a:t>heltec</a:t>
            </a:r>
            <a:r>
              <a:rPr lang="en-US" dirty="0"/>
              <a:t> sends a confirmation back to the inside </a:t>
            </a:r>
            <a:r>
              <a:rPr lang="en-US" dirty="0" err="1"/>
              <a:t>heltec</a:t>
            </a:r>
            <a:r>
              <a:rPr lang="en-US" dirty="0"/>
              <a:t>.  The battery supplies voltage through a step down converter to both the </a:t>
            </a:r>
            <a:r>
              <a:rPr lang="en-US" dirty="0" err="1"/>
              <a:t>heltec</a:t>
            </a:r>
            <a:r>
              <a:rPr lang="en-US" dirty="0"/>
              <a:t> and the servo.  Servo does not use any power when idle, and the </a:t>
            </a:r>
            <a:r>
              <a:rPr lang="en-US" dirty="0" err="1"/>
              <a:t>heltec</a:t>
            </a:r>
            <a:r>
              <a:rPr lang="en-US" dirty="0"/>
              <a:t> requires approximately 60mA when idle.</a:t>
            </a:r>
          </a:p>
        </p:txBody>
      </p:sp>
      <p:sp>
        <p:nvSpPr>
          <p:cNvPr id="4" name="Slide Number Placeholder 3"/>
          <p:cNvSpPr>
            <a:spLocks noGrp="1"/>
          </p:cNvSpPr>
          <p:nvPr>
            <p:ph type="sldNum" sz="quarter" idx="5"/>
          </p:nvPr>
        </p:nvSpPr>
        <p:spPr/>
        <p:txBody>
          <a:bodyPr/>
          <a:lstStyle/>
          <a:p>
            <a:fld id="{AE74C190-0FEF-43FF-AF43-44A2AA9DF741}" type="slidenum">
              <a:rPr lang="en-US" smtClean="0"/>
              <a:t>4</a:t>
            </a:fld>
            <a:endParaRPr lang="en-US"/>
          </a:p>
        </p:txBody>
      </p:sp>
    </p:spTree>
    <p:extLst>
      <p:ext uri="{BB962C8B-B14F-4D97-AF65-F5344CB8AC3E}">
        <p14:creationId xmlns:p14="http://schemas.microsoft.com/office/powerpoint/2010/main" val="2517943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B952-0E2C-4E14-0302-0449FF22D3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24B819-3EC6-1695-1A79-D253E0034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027681-45C2-3C15-4265-B45E87EC0EC2}"/>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5" name="Footer Placeholder 4">
            <a:extLst>
              <a:ext uri="{FF2B5EF4-FFF2-40B4-BE49-F238E27FC236}">
                <a16:creationId xmlns:a16="http://schemas.microsoft.com/office/drawing/2014/main" id="{1419D46D-75F8-02FF-6BA4-0FFDF5636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A44262-E12A-0645-ABA1-509D10829BDB}"/>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825430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3C30B-ECCF-35DE-7392-231A1DD859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F7E8E6-9374-3F93-819E-DC724E94FE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9AD0A-A4B2-E6DF-D693-D452556F10A3}"/>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5" name="Footer Placeholder 4">
            <a:extLst>
              <a:ext uri="{FF2B5EF4-FFF2-40B4-BE49-F238E27FC236}">
                <a16:creationId xmlns:a16="http://schemas.microsoft.com/office/drawing/2014/main" id="{F1C62A69-095B-237A-3844-D2C2E04CF5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13BAB4-BC57-F465-61CD-5BCD6FCB4521}"/>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1543842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5F66B-A458-4FCA-546D-9253D1B061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84BD5-B8D8-F447-D0EE-01A8849A0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E4870-608A-5E38-F90F-41F09D05EFC6}"/>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5" name="Footer Placeholder 4">
            <a:extLst>
              <a:ext uri="{FF2B5EF4-FFF2-40B4-BE49-F238E27FC236}">
                <a16:creationId xmlns:a16="http://schemas.microsoft.com/office/drawing/2014/main" id="{358C415F-064E-974A-588F-5C77CB5FA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B34BA5-B0A5-E039-8549-29487C9EFBB7}"/>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84628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C78F-023F-9F9F-6C5C-496EE1B42F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818783-03EF-9C4B-9CF8-A96223C600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3BEAD0-E975-7DE6-16C7-07F7084B8F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6D7392-AB8C-30DA-44E4-D9099145A540}"/>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6" name="Footer Placeholder 5">
            <a:extLst>
              <a:ext uri="{FF2B5EF4-FFF2-40B4-BE49-F238E27FC236}">
                <a16:creationId xmlns:a16="http://schemas.microsoft.com/office/drawing/2014/main" id="{26BEACAB-CF72-D4A7-9B5E-7B5F64F450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D89DC0-B98F-CCBE-705F-25EA4BD103F8}"/>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303282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2451-5231-A015-6473-332D96AEA0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37382C-9A14-C7A2-7EB3-56A269BF74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70E09A-AFED-9A2D-CF4C-991741D614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336C59-A01E-2E40-CF37-4FE096D782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533F0D-32F0-C42E-36B0-9FC799EDB5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0A052-E213-4496-D3AE-9E2467FCFB49}"/>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8" name="Footer Placeholder 7">
            <a:extLst>
              <a:ext uri="{FF2B5EF4-FFF2-40B4-BE49-F238E27FC236}">
                <a16:creationId xmlns:a16="http://schemas.microsoft.com/office/drawing/2014/main" id="{E99172D0-B395-8438-2824-45946AFA38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0B1DD0-DA82-6977-76B5-B51DB03CA5A9}"/>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235688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6709C-8063-8779-6BA0-A33809E9F1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AAFC60-8344-A4FD-C76D-77737F179436}"/>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4" name="Footer Placeholder 3">
            <a:extLst>
              <a:ext uri="{FF2B5EF4-FFF2-40B4-BE49-F238E27FC236}">
                <a16:creationId xmlns:a16="http://schemas.microsoft.com/office/drawing/2014/main" id="{9595D14B-C080-662E-B264-708D00BCD5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996218-754F-BF2B-78C4-17D8BA5DD5B5}"/>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513072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F2EFA2-51A9-BE92-2A9A-53C9A86722D5}"/>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3" name="Footer Placeholder 2">
            <a:extLst>
              <a:ext uri="{FF2B5EF4-FFF2-40B4-BE49-F238E27FC236}">
                <a16:creationId xmlns:a16="http://schemas.microsoft.com/office/drawing/2014/main" id="{FD160A6A-E10A-D792-37A8-D2D256EA38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877EA3-7899-DEC5-2AC3-6597508C6353}"/>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3226348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AFEC-A5DF-6055-4B2F-54FEDAD1D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A8817F-814F-C1E5-90D1-7869F52B85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7C12D1-3DFD-04D0-678A-4DDDA8B803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81127C-6A11-1E3F-F0E8-5AFD36245FCE}"/>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6" name="Footer Placeholder 5">
            <a:extLst>
              <a:ext uri="{FF2B5EF4-FFF2-40B4-BE49-F238E27FC236}">
                <a16:creationId xmlns:a16="http://schemas.microsoft.com/office/drawing/2014/main" id="{6C101885-6217-08B2-CA31-A8E30F0712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EE4B4C-85C5-2AC8-E874-2F90340903E9}"/>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3905182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3EED-31A7-ABAD-216E-385CAF8F05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7FE25B-37A6-6539-8C42-919407F7C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177D5B-B952-4C0D-CF76-F2DC18546D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397970-1AC2-EA92-CA9C-C123E1F2E208}"/>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6" name="Footer Placeholder 5">
            <a:extLst>
              <a:ext uri="{FF2B5EF4-FFF2-40B4-BE49-F238E27FC236}">
                <a16:creationId xmlns:a16="http://schemas.microsoft.com/office/drawing/2014/main" id="{6639A6E4-B1C2-7790-6DA4-171DF637C6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B04F05-DEA3-5BC5-238C-B01346565B2F}"/>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3379462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A5AA8-157C-FAA3-D29C-B1FACDA6F3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4E96B3-7687-04EE-60EB-4401020D1C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BA61-A879-D316-D4AF-833B3B03CDD8}"/>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5" name="Footer Placeholder 4">
            <a:extLst>
              <a:ext uri="{FF2B5EF4-FFF2-40B4-BE49-F238E27FC236}">
                <a16:creationId xmlns:a16="http://schemas.microsoft.com/office/drawing/2014/main" id="{6CD821C0-F5A9-9187-2D1A-761941928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E524F-96A5-9311-72CA-A8DF0558BAFD}"/>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2071985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9CF75D-BE5D-AAAE-ACBF-98DAD814B4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FE5D47-36E4-946D-AA43-5626671862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7C544-CE95-B9AD-03EF-5E9D996ACBF9}"/>
              </a:ext>
            </a:extLst>
          </p:cNvPr>
          <p:cNvSpPr>
            <a:spLocks noGrp="1"/>
          </p:cNvSpPr>
          <p:nvPr>
            <p:ph type="dt" sz="half" idx="10"/>
          </p:nvPr>
        </p:nvSpPr>
        <p:spPr/>
        <p:txBody>
          <a:bodyPr/>
          <a:lstStyle/>
          <a:p>
            <a:fld id="{AEC21AFA-86DD-46C7-9D1E-B0C7FE54A2CB}" type="datetimeFigureOut">
              <a:rPr lang="en-US" smtClean="0"/>
              <a:t>8/26/2026</a:t>
            </a:fld>
            <a:endParaRPr lang="en-US"/>
          </a:p>
        </p:txBody>
      </p:sp>
      <p:sp>
        <p:nvSpPr>
          <p:cNvPr id="5" name="Footer Placeholder 4">
            <a:extLst>
              <a:ext uri="{FF2B5EF4-FFF2-40B4-BE49-F238E27FC236}">
                <a16:creationId xmlns:a16="http://schemas.microsoft.com/office/drawing/2014/main" id="{E4F32149-C54D-CE43-6646-B6EB650D6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2924B-D8AD-E170-1131-795C44F685F4}"/>
              </a:ext>
            </a:extLst>
          </p:cNvPr>
          <p:cNvSpPr>
            <a:spLocks noGrp="1"/>
          </p:cNvSpPr>
          <p:nvPr>
            <p:ph type="sldNum" sz="quarter" idx="12"/>
          </p:nvPr>
        </p:nvSpPr>
        <p:spPr/>
        <p:txBody>
          <a:bodyPr/>
          <a:lstStyle/>
          <a:p>
            <a:fld id="{42E259CE-354F-4B4E-89B9-3EC855BAC800}" type="slidenum">
              <a:rPr lang="en-US" smtClean="0"/>
              <a:t>‹#›</a:t>
            </a:fld>
            <a:endParaRPr lang="en-US"/>
          </a:p>
        </p:txBody>
      </p:sp>
    </p:spTree>
    <p:extLst>
      <p:ext uri="{BB962C8B-B14F-4D97-AF65-F5344CB8AC3E}">
        <p14:creationId xmlns:p14="http://schemas.microsoft.com/office/powerpoint/2010/main" val="3796840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463979-4A1A-182E-87B2-726ED119CA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2D2D9B-5AA7-02DF-B964-7D5D917CD3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9E11A6-F653-3F58-D540-780F81A32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C21AFA-86DD-46C7-9D1E-B0C7FE54A2CB}" type="datetimeFigureOut">
              <a:rPr lang="en-US" smtClean="0"/>
              <a:t>8/26/2026</a:t>
            </a:fld>
            <a:endParaRPr lang="en-US"/>
          </a:p>
        </p:txBody>
      </p:sp>
      <p:sp>
        <p:nvSpPr>
          <p:cNvPr id="5" name="Footer Placeholder 4">
            <a:extLst>
              <a:ext uri="{FF2B5EF4-FFF2-40B4-BE49-F238E27FC236}">
                <a16:creationId xmlns:a16="http://schemas.microsoft.com/office/drawing/2014/main" id="{617591F7-334D-3EB7-3451-D42A4E9D47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30DE2B-396C-8C5C-FE11-6856964655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E259CE-354F-4B4E-89B9-3EC855BAC800}" type="slidenum">
              <a:rPr lang="en-US" smtClean="0"/>
              <a:t>‹#›</a:t>
            </a:fld>
            <a:endParaRPr lang="en-US"/>
          </a:p>
        </p:txBody>
      </p:sp>
    </p:spTree>
    <p:extLst>
      <p:ext uri="{BB962C8B-B14F-4D97-AF65-F5344CB8AC3E}">
        <p14:creationId xmlns:p14="http://schemas.microsoft.com/office/powerpoint/2010/main" val="1463127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hyperlink" Target="https://www.amazon.com/Renogy-Monocrystalline-Efficiency-Charging-Applications/dp/B07GTH79JP/ref=sr_1_3?dib=eyJ2IjoiMSJ9.3hi6UmWbDLxWR2oI43uD9i4Omtm5k_lO8sCv7tTDsALuNVMWHR0_57YFVJyJheGv0d-ZJ4Q33ScV1QtsYZbaeMh9VrRd3iVzLVHzG3uPjMuTLQOqDKAwMNFAfEOcwDvtmtMKSS-FqUkHdJDRLUPuY48dPOEFtJwmUxI5tP_PJjIbpaHvmMJu3DNb83eiSE23bCk_hQEZD5uG0J9Wv-jotHIUlUreNGqsT1hWIZWhEmg.EZSWzyehHInDTVk4lt-eA6Bhi_5Xp0V4tZ0TuxEQPog&amp;dib_tag=se&amp;keywords=solar%2Bpanel%2B50w&amp;qid=1787164423&amp;sr=8-3&amp;th=1" TargetMode="External"/><Relationship Id="rId3" Type="http://schemas.openxmlformats.org/officeDocument/2006/relationships/image" Target="../media/image1.jpeg"/><Relationship Id="rId7" Type="http://schemas.openxmlformats.org/officeDocument/2006/relationships/image" Target="../media/image3.jpeg"/><Relationship Id="rId12" Type="http://schemas.openxmlformats.org/officeDocument/2006/relationships/hyperlink" Target="https://www.amazon.com/dp/B01N5XQTQH?ref_=ppx_hzsearch_conn_dt_b_fed_asin_title_2"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www.amazon.com/gp/aw/d/B085QCT543/?_encoding=UTF8&amp;pd_rd_plhdr=t&amp;aaxitk=f9f90e98e8ae3eea6c70341dc97f97f1&amp;hsa_cr_id=0&amp;qid=1787164329&amp;sr=1-1-9e67e56a-6f64-441f-a281-df67fc737124&amp;i=aps&amp;aref=bSRWb4QlbF&amp;ref_=sbx_s_sparkle_sbtcd_asin_0_img&amp;pd_rd_w=j5CDK&amp;content-id=amzn1.sym.8de9b3d5-f5c5-40e9-9b39-d65f08d6ea68%3Aamzn1.sym.8de9b3d5-f5c5-40e9-9b39-d65f08d6ea68&amp;pf_rd_p=8de9b3d5-f5c5-40e9-9b39-d65f08d6ea68&amp;pf_rd_r=VA0BQ9BN35QB52HBB8JD&amp;pd_rd_wg=wVNZm&amp;pd_rd_r=6d370075-dab6-4f48-913f-6c207ba31978&amp;th=1" TargetMode="External"/><Relationship Id="rId11" Type="http://schemas.openxmlformats.org/officeDocument/2006/relationships/image" Target="../media/image5.jpeg"/><Relationship Id="rId5" Type="http://schemas.openxmlformats.org/officeDocument/2006/relationships/image" Target="../media/image2.jpeg"/><Relationship Id="rId10" Type="http://schemas.openxmlformats.org/officeDocument/2006/relationships/hyperlink" Target="https://www.amazon.com/Valefod-Efficiency-Voltage-Regulator-Converter/dp/B07T5X5LSH/ref=sxin_18_pa_sp_search_thematic_sspa?content-id=amzn1.sym.8eb671a2-a903-4c3a-b962-ebb867a4f8f8%3Aamzn1.sym.8eb671a2-a903-4c3a-b962-ebb867a4f8f8&amp;crid=2VQWWE4WVJFFL&amp;cv_ct_cx=dc%2Bdc%2Bconverter&amp;keywords=dc%2Bdc%2Bconverter&amp;pd_rd_i=B07T5X5LSH&amp;pd_rd_r=8e31c211-c8d3-4adb-af96-87e0adf56087&amp;pd_rd_w=jJJ4G&amp;pd_rd_wg=B9lNo&amp;pf_rd_p=8eb671a2-a903-4c3a-b962-ebb867a4f8f8&amp;pf_rd_r=FCSTD4T2PDRT81CT6XFP&amp;qid=1787164608&amp;sbo=RZvfv%2F%2FHxDF%2BO5021pAnSA%3D%3D&amp;sprefix=dc%2Bdc%2Bconvert%2Caps%2C306&amp;sr=1-2-6024b2a3-78e4-4fed-8fed-e1613be3bcce-spons&amp;aref=AvNRgQtIFs&amp;sp_csd=d2lkZ2V0TmFtZT1zcF9zZWFyY2hfdGhlbWF0aWM&amp;th=1" TargetMode="External"/><Relationship Id="rId4" Type="http://schemas.openxmlformats.org/officeDocument/2006/relationships/hyperlink" Target="https://www.amazon.com/V3-ESP32-Development-Dual-core-Meshtastic/dp/B0DRSJV1ZL/ref=sr_1_4?crid=3JP9VCTF5L9SE&amp;dib=eyJ2IjoiMSJ9.-ndMr8ocHp2kp8KCk4ilt0TYQ7S68lYDCX8rYpn3SHhNhQ_QXFACPpr9EJNbjsiYhUY1vfRIegnbUhBJHT7q_i3uyxBTFZdW6gK8SOP9vV2-WGxZAg4jWOQm8u1cXfcgQE4lglKiUf9QAH4_EVNhYHG-cPKCGhmGE4KfH4SIlM5Hci6sSG2lRTM3i7IKxJSPIVD8DuLuDAMwdsXZ23gcfaS0qF_Hok92Da_pBe5gNx4.hjIWL3fsyyIlbiuOC7r95lkAkisJacgFeaiZ975gfao&amp;dib_tag=se&amp;keywords=heltec%2Besp32%2Blora%2Bv3&amp;qid=1787163249&amp;sprefix=heltec%2Besp32%2Caps%2C347&amp;sr=8-4&amp;th=1" TargetMode="External"/><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EEA8-C2AB-A726-B85B-1EB02CA9F632}"/>
              </a:ext>
            </a:extLst>
          </p:cNvPr>
          <p:cNvSpPr>
            <a:spLocks noGrp="1"/>
          </p:cNvSpPr>
          <p:nvPr>
            <p:ph type="ctrTitle"/>
          </p:nvPr>
        </p:nvSpPr>
        <p:spPr/>
        <p:txBody>
          <a:bodyPr/>
          <a:lstStyle/>
          <a:p>
            <a:r>
              <a:rPr lang="en-US" dirty="0"/>
              <a:t>Homebrew Wireless Antenna Switcher</a:t>
            </a:r>
          </a:p>
        </p:txBody>
      </p:sp>
      <p:sp>
        <p:nvSpPr>
          <p:cNvPr id="3" name="Subtitle 2">
            <a:extLst>
              <a:ext uri="{FF2B5EF4-FFF2-40B4-BE49-F238E27FC236}">
                <a16:creationId xmlns:a16="http://schemas.microsoft.com/office/drawing/2014/main" id="{368BAFAD-23CE-D96B-623E-3BAEB724E850}"/>
              </a:ext>
            </a:extLst>
          </p:cNvPr>
          <p:cNvSpPr>
            <a:spLocks noGrp="1"/>
          </p:cNvSpPr>
          <p:nvPr>
            <p:ph type="subTitle" idx="1"/>
          </p:nvPr>
        </p:nvSpPr>
        <p:spPr/>
        <p:txBody>
          <a:bodyPr/>
          <a:lstStyle/>
          <a:p>
            <a:r>
              <a:rPr lang="en-US" dirty="0"/>
              <a:t>2026.08.19</a:t>
            </a:r>
          </a:p>
          <a:p>
            <a:r>
              <a:rPr lang="en-US" dirty="0"/>
              <a:t>KQ4TIV</a:t>
            </a:r>
          </a:p>
        </p:txBody>
      </p:sp>
    </p:spTree>
    <p:extLst>
      <p:ext uri="{BB962C8B-B14F-4D97-AF65-F5344CB8AC3E}">
        <p14:creationId xmlns:p14="http://schemas.microsoft.com/office/powerpoint/2010/main" val="1332662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4BE85-5631-509A-95ED-0B6C0D691913}"/>
              </a:ext>
            </a:extLst>
          </p:cNvPr>
          <p:cNvSpPr>
            <a:spLocks noGrp="1"/>
          </p:cNvSpPr>
          <p:nvPr>
            <p:ph type="title"/>
          </p:nvPr>
        </p:nvSpPr>
        <p:spPr/>
        <p:txBody>
          <a:bodyPr/>
          <a:lstStyle/>
          <a:p>
            <a:r>
              <a:rPr lang="en-US" dirty="0"/>
              <a:t>Statement of Problem</a:t>
            </a:r>
          </a:p>
        </p:txBody>
      </p:sp>
      <p:sp>
        <p:nvSpPr>
          <p:cNvPr id="4" name="Text Placeholder 3">
            <a:extLst>
              <a:ext uri="{FF2B5EF4-FFF2-40B4-BE49-F238E27FC236}">
                <a16:creationId xmlns:a16="http://schemas.microsoft.com/office/drawing/2014/main" id="{FB90006E-DC0D-2AD9-B3D2-160CA0A4F5E4}"/>
              </a:ext>
            </a:extLst>
          </p:cNvPr>
          <p:cNvSpPr>
            <a:spLocks noGrp="1"/>
          </p:cNvSpPr>
          <p:nvPr>
            <p:ph type="body" idx="1"/>
          </p:nvPr>
        </p:nvSpPr>
        <p:spPr/>
        <p:txBody>
          <a:bodyPr/>
          <a:lstStyle/>
          <a:p>
            <a:r>
              <a:rPr lang="en-US" dirty="0"/>
              <a:t>Synopsis</a:t>
            </a:r>
          </a:p>
        </p:txBody>
      </p:sp>
      <p:sp>
        <p:nvSpPr>
          <p:cNvPr id="5" name="Content Placeholder 4">
            <a:extLst>
              <a:ext uri="{FF2B5EF4-FFF2-40B4-BE49-F238E27FC236}">
                <a16:creationId xmlns:a16="http://schemas.microsoft.com/office/drawing/2014/main" id="{8CCFC9BF-E263-F9FC-A585-FA4A74F86095}"/>
              </a:ext>
            </a:extLst>
          </p:cNvPr>
          <p:cNvSpPr>
            <a:spLocks noGrp="1"/>
          </p:cNvSpPr>
          <p:nvPr>
            <p:ph sz="half" idx="2"/>
          </p:nvPr>
        </p:nvSpPr>
        <p:spPr/>
        <p:txBody>
          <a:bodyPr>
            <a:normAutofit lnSpcReduction="10000"/>
          </a:bodyPr>
          <a:lstStyle/>
          <a:p>
            <a:pPr marL="0" indent="0">
              <a:buNone/>
            </a:pPr>
            <a:r>
              <a:rPr lang="en-US" dirty="0"/>
              <a:t>Needing remote switching capability to select from multiple antennas for different purposes on HF.  Did not want to dig or lay wires from shack which was over 250 feet away.  Had to be self sufficient and low maintenance. Also did not want to have separate coax runs ($$$) to each antenna.</a:t>
            </a:r>
          </a:p>
        </p:txBody>
      </p:sp>
      <p:sp>
        <p:nvSpPr>
          <p:cNvPr id="6" name="Text Placeholder 5">
            <a:extLst>
              <a:ext uri="{FF2B5EF4-FFF2-40B4-BE49-F238E27FC236}">
                <a16:creationId xmlns:a16="http://schemas.microsoft.com/office/drawing/2014/main" id="{96858A4B-72C0-292F-374E-E67E6179E196}"/>
              </a:ext>
            </a:extLst>
          </p:cNvPr>
          <p:cNvSpPr>
            <a:spLocks noGrp="1"/>
          </p:cNvSpPr>
          <p:nvPr>
            <p:ph type="body" sz="quarter" idx="3"/>
          </p:nvPr>
        </p:nvSpPr>
        <p:spPr/>
        <p:txBody>
          <a:bodyPr/>
          <a:lstStyle/>
          <a:p>
            <a:r>
              <a:rPr lang="en-US" dirty="0"/>
              <a:t>Requirements</a:t>
            </a:r>
          </a:p>
        </p:txBody>
      </p:sp>
      <p:sp>
        <p:nvSpPr>
          <p:cNvPr id="7" name="Content Placeholder 6">
            <a:extLst>
              <a:ext uri="{FF2B5EF4-FFF2-40B4-BE49-F238E27FC236}">
                <a16:creationId xmlns:a16="http://schemas.microsoft.com/office/drawing/2014/main" id="{DD59F80A-5065-C217-AF43-6890D3E206E0}"/>
              </a:ext>
            </a:extLst>
          </p:cNvPr>
          <p:cNvSpPr>
            <a:spLocks noGrp="1"/>
          </p:cNvSpPr>
          <p:nvPr>
            <p:ph sz="quarter" idx="4"/>
          </p:nvPr>
        </p:nvSpPr>
        <p:spPr/>
        <p:txBody>
          <a:bodyPr>
            <a:normAutofit lnSpcReduction="10000"/>
          </a:bodyPr>
          <a:lstStyle/>
          <a:p>
            <a:r>
              <a:rPr lang="en-US" dirty="0"/>
              <a:t>Wireless</a:t>
            </a:r>
          </a:p>
          <a:p>
            <a:r>
              <a:rPr lang="en-US" dirty="0"/>
              <a:t>Reduce amount of coax</a:t>
            </a:r>
          </a:p>
          <a:p>
            <a:r>
              <a:rPr lang="en-US" dirty="0"/>
              <a:t>Low maintenance</a:t>
            </a:r>
          </a:p>
          <a:p>
            <a:r>
              <a:rPr lang="en-US" dirty="0"/>
              <a:t>Does not require constant voltage source</a:t>
            </a:r>
          </a:p>
          <a:p>
            <a:r>
              <a:rPr lang="en-US" dirty="0"/>
              <a:t>Customizable </a:t>
            </a:r>
          </a:p>
        </p:txBody>
      </p:sp>
    </p:spTree>
    <p:extLst>
      <p:ext uri="{BB962C8B-B14F-4D97-AF65-F5344CB8AC3E}">
        <p14:creationId xmlns:p14="http://schemas.microsoft.com/office/powerpoint/2010/main" val="820010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4D6A0-4F52-1AF5-DD3F-4EBD2F9C9C61}"/>
              </a:ext>
            </a:extLst>
          </p:cNvPr>
          <p:cNvSpPr>
            <a:spLocks noGrp="1"/>
          </p:cNvSpPr>
          <p:nvPr>
            <p:ph type="title"/>
          </p:nvPr>
        </p:nvSpPr>
        <p:spPr/>
        <p:txBody>
          <a:bodyPr/>
          <a:lstStyle/>
          <a:p>
            <a:r>
              <a:rPr lang="en-US" dirty="0"/>
              <a:t>Equipment</a:t>
            </a:r>
          </a:p>
        </p:txBody>
      </p:sp>
      <p:pic>
        <p:nvPicPr>
          <p:cNvPr id="5" name="Picture 4">
            <a:extLst>
              <a:ext uri="{FF2B5EF4-FFF2-40B4-BE49-F238E27FC236}">
                <a16:creationId xmlns:a16="http://schemas.microsoft.com/office/drawing/2014/main" id="{11187D4A-67BC-370D-4288-8E38703F90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5129" y="2217040"/>
            <a:ext cx="1899624" cy="1623545"/>
          </a:xfrm>
          <a:prstGeom prst="rect">
            <a:avLst/>
          </a:prstGeom>
        </p:spPr>
      </p:pic>
      <p:sp>
        <p:nvSpPr>
          <p:cNvPr id="6" name="TextBox 5">
            <a:extLst>
              <a:ext uri="{FF2B5EF4-FFF2-40B4-BE49-F238E27FC236}">
                <a16:creationId xmlns:a16="http://schemas.microsoft.com/office/drawing/2014/main" id="{DA5C349F-E75B-577E-3B19-9C5436321BA2}"/>
              </a:ext>
            </a:extLst>
          </p:cNvPr>
          <p:cNvSpPr txBox="1"/>
          <p:nvPr/>
        </p:nvSpPr>
        <p:spPr>
          <a:xfrm>
            <a:off x="314587" y="3990540"/>
            <a:ext cx="2025942" cy="369332"/>
          </a:xfrm>
          <a:prstGeom prst="rect">
            <a:avLst/>
          </a:prstGeom>
          <a:noFill/>
        </p:spPr>
        <p:txBody>
          <a:bodyPr wrap="square" rtlCol="0">
            <a:spAutoFit/>
          </a:bodyPr>
          <a:lstStyle/>
          <a:p>
            <a:pPr algn="ctr"/>
            <a:r>
              <a:rPr lang="en-US" dirty="0"/>
              <a:t>$40 </a:t>
            </a:r>
            <a:r>
              <a:rPr lang="en-US" dirty="0">
                <a:hlinkClick r:id="rId4"/>
              </a:rPr>
              <a:t>Amazon Link</a:t>
            </a:r>
            <a:endParaRPr lang="en-US" dirty="0"/>
          </a:p>
        </p:txBody>
      </p:sp>
      <p:pic>
        <p:nvPicPr>
          <p:cNvPr id="7" name="Picture 6">
            <a:extLst>
              <a:ext uri="{FF2B5EF4-FFF2-40B4-BE49-F238E27FC236}">
                <a16:creationId xmlns:a16="http://schemas.microsoft.com/office/drawing/2014/main" id="{A0419D5D-0094-C4BA-DDAB-50384C7E099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40579" y="2209408"/>
            <a:ext cx="1663335" cy="1663335"/>
          </a:xfrm>
          <a:prstGeom prst="rect">
            <a:avLst/>
          </a:prstGeom>
        </p:spPr>
      </p:pic>
      <p:sp>
        <p:nvSpPr>
          <p:cNvPr id="9" name="TextBox 8">
            <a:extLst>
              <a:ext uri="{FF2B5EF4-FFF2-40B4-BE49-F238E27FC236}">
                <a16:creationId xmlns:a16="http://schemas.microsoft.com/office/drawing/2014/main" id="{3912BFB1-B322-743F-8300-216E54BE4F05}"/>
              </a:ext>
            </a:extLst>
          </p:cNvPr>
          <p:cNvSpPr txBox="1"/>
          <p:nvPr/>
        </p:nvSpPr>
        <p:spPr>
          <a:xfrm>
            <a:off x="2522289" y="3990540"/>
            <a:ext cx="2025942" cy="369332"/>
          </a:xfrm>
          <a:prstGeom prst="rect">
            <a:avLst/>
          </a:prstGeom>
          <a:noFill/>
        </p:spPr>
        <p:txBody>
          <a:bodyPr wrap="square" rtlCol="0">
            <a:spAutoFit/>
          </a:bodyPr>
          <a:lstStyle/>
          <a:p>
            <a:pPr algn="ctr"/>
            <a:r>
              <a:rPr lang="en-US" dirty="0"/>
              <a:t>$22 </a:t>
            </a:r>
            <a:r>
              <a:rPr lang="en-US" dirty="0">
                <a:hlinkClick r:id="rId6"/>
              </a:rPr>
              <a:t>Amazon Link</a:t>
            </a:r>
            <a:endParaRPr lang="en-US" dirty="0"/>
          </a:p>
        </p:txBody>
      </p:sp>
      <p:pic>
        <p:nvPicPr>
          <p:cNvPr id="10" name="Picture 9">
            <a:extLst>
              <a:ext uri="{FF2B5EF4-FFF2-40B4-BE49-F238E27FC236}">
                <a16:creationId xmlns:a16="http://schemas.microsoft.com/office/drawing/2014/main" id="{E94D11A8-F9CA-BEB2-AF25-9E845CB25F2D}"/>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079534" y="2249198"/>
            <a:ext cx="1463865" cy="1656981"/>
          </a:xfrm>
          <a:prstGeom prst="rect">
            <a:avLst/>
          </a:prstGeom>
        </p:spPr>
      </p:pic>
      <p:sp>
        <p:nvSpPr>
          <p:cNvPr id="12" name="TextBox 11">
            <a:extLst>
              <a:ext uri="{FF2B5EF4-FFF2-40B4-BE49-F238E27FC236}">
                <a16:creationId xmlns:a16="http://schemas.microsoft.com/office/drawing/2014/main" id="{E4DCDC0F-9FB3-38A7-5105-84655627603B}"/>
              </a:ext>
            </a:extLst>
          </p:cNvPr>
          <p:cNvSpPr txBox="1"/>
          <p:nvPr/>
        </p:nvSpPr>
        <p:spPr>
          <a:xfrm>
            <a:off x="4901966" y="3945969"/>
            <a:ext cx="2025942" cy="369332"/>
          </a:xfrm>
          <a:prstGeom prst="rect">
            <a:avLst/>
          </a:prstGeom>
          <a:noFill/>
        </p:spPr>
        <p:txBody>
          <a:bodyPr wrap="square" rtlCol="0">
            <a:spAutoFit/>
          </a:bodyPr>
          <a:lstStyle/>
          <a:p>
            <a:pPr algn="ctr"/>
            <a:r>
              <a:rPr lang="en-US" dirty="0"/>
              <a:t>$54 </a:t>
            </a:r>
            <a:r>
              <a:rPr lang="en-US" dirty="0">
                <a:hlinkClick r:id="rId8"/>
              </a:rPr>
              <a:t>Amazon Link</a:t>
            </a:r>
            <a:endParaRPr lang="en-US" dirty="0"/>
          </a:p>
        </p:txBody>
      </p:sp>
      <p:pic>
        <p:nvPicPr>
          <p:cNvPr id="13" name="Picture 12">
            <a:extLst>
              <a:ext uri="{FF2B5EF4-FFF2-40B4-BE49-F238E27FC236}">
                <a16:creationId xmlns:a16="http://schemas.microsoft.com/office/drawing/2014/main" id="{52520877-4EB2-4238-EE8D-FDE243A39B93}"/>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226809" y="2249197"/>
            <a:ext cx="1597353" cy="1656981"/>
          </a:xfrm>
          <a:prstGeom prst="rect">
            <a:avLst/>
          </a:prstGeom>
        </p:spPr>
      </p:pic>
      <p:sp>
        <p:nvSpPr>
          <p:cNvPr id="15" name="TextBox 14">
            <a:extLst>
              <a:ext uri="{FF2B5EF4-FFF2-40B4-BE49-F238E27FC236}">
                <a16:creationId xmlns:a16="http://schemas.microsoft.com/office/drawing/2014/main" id="{DE6B13CE-A3A8-0821-E1D3-EB44C4B351BF}"/>
              </a:ext>
            </a:extLst>
          </p:cNvPr>
          <p:cNvSpPr txBox="1"/>
          <p:nvPr/>
        </p:nvSpPr>
        <p:spPr>
          <a:xfrm>
            <a:off x="7071917" y="3945969"/>
            <a:ext cx="2067887" cy="369332"/>
          </a:xfrm>
          <a:prstGeom prst="rect">
            <a:avLst/>
          </a:prstGeom>
          <a:noFill/>
        </p:spPr>
        <p:txBody>
          <a:bodyPr wrap="square" rtlCol="0">
            <a:spAutoFit/>
          </a:bodyPr>
          <a:lstStyle/>
          <a:p>
            <a:pPr algn="ctr"/>
            <a:r>
              <a:rPr lang="en-US" dirty="0"/>
              <a:t>$1.30 </a:t>
            </a:r>
            <a:r>
              <a:rPr lang="en-US" dirty="0">
                <a:hlinkClick r:id="rId10"/>
              </a:rPr>
              <a:t>Amazon Link</a:t>
            </a:r>
            <a:endParaRPr lang="en-US" dirty="0"/>
          </a:p>
        </p:txBody>
      </p:sp>
      <p:pic>
        <p:nvPicPr>
          <p:cNvPr id="16" name="Picture 15" descr="OPEK CX-5 Coaxial Antenna Switch 1KW PEP Rated 3 Position">
            <a:extLst>
              <a:ext uri="{FF2B5EF4-FFF2-40B4-BE49-F238E27FC236}">
                <a16:creationId xmlns:a16="http://schemas.microsoft.com/office/drawing/2014/main" id="{7D3D30FF-12CF-DD24-BF9B-C4F138EB1EF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489345" y="2111642"/>
            <a:ext cx="2301559" cy="1932089"/>
          </a:xfrm>
          <a:prstGeom prst="rect">
            <a:avLst/>
          </a:prstGeom>
        </p:spPr>
      </p:pic>
      <p:sp>
        <p:nvSpPr>
          <p:cNvPr id="18" name="TextBox 17">
            <a:extLst>
              <a:ext uri="{FF2B5EF4-FFF2-40B4-BE49-F238E27FC236}">
                <a16:creationId xmlns:a16="http://schemas.microsoft.com/office/drawing/2014/main" id="{524C978C-EFE8-DAC7-715A-1AE70F21BD6A}"/>
              </a:ext>
            </a:extLst>
          </p:cNvPr>
          <p:cNvSpPr txBox="1"/>
          <p:nvPr/>
        </p:nvSpPr>
        <p:spPr>
          <a:xfrm>
            <a:off x="9633354" y="3945969"/>
            <a:ext cx="2067887" cy="369332"/>
          </a:xfrm>
          <a:prstGeom prst="rect">
            <a:avLst/>
          </a:prstGeom>
          <a:noFill/>
        </p:spPr>
        <p:txBody>
          <a:bodyPr wrap="square" rtlCol="0">
            <a:spAutoFit/>
          </a:bodyPr>
          <a:lstStyle/>
          <a:p>
            <a:pPr algn="ctr"/>
            <a:r>
              <a:rPr lang="en-US" dirty="0"/>
              <a:t>$43 </a:t>
            </a:r>
            <a:r>
              <a:rPr lang="en-US" dirty="0">
                <a:hlinkClick r:id="rId12"/>
              </a:rPr>
              <a:t>Amazon Link</a:t>
            </a:r>
            <a:endParaRPr lang="en-US" dirty="0"/>
          </a:p>
        </p:txBody>
      </p:sp>
      <p:sp>
        <p:nvSpPr>
          <p:cNvPr id="19" name="TextBox 18">
            <a:extLst>
              <a:ext uri="{FF2B5EF4-FFF2-40B4-BE49-F238E27FC236}">
                <a16:creationId xmlns:a16="http://schemas.microsoft.com/office/drawing/2014/main" id="{B2F7F1DE-09CF-2D93-93D7-F811B652DC5F}"/>
              </a:ext>
            </a:extLst>
          </p:cNvPr>
          <p:cNvSpPr txBox="1"/>
          <p:nvPr/>
        </p:nvSpPr>
        <p:spPr>
          <a:xfrm>
            <a:off x="904155" y="5121479"/>
            <a:ext cx="4292824" cy="369332"/>
          </a:xfrm>
          <a:prstGeom prst="rect">
            <a:avLst/>
          </a:prstGeom>
          <a:noFill/>
        </p:spPr>
        <p:txBody>
          <a:bodyPr wrap="square" rtlCol="0">
            <a:spAutoFit/>
          </a:bodyPr>
          <a:lstStyle/>
          <a:p>
            <a:r>
              <a:rPr lang="en-US" dirty="0"/>
              <a:t>Total minus battery and cables = $160.30</a:t>
            </a:r>
          </a:p>
        </p:txBody>
      </p:sp>
      <p:sp>
        <p:nvSpPr>
          <p:cNvPr id="21" name="TextBox 20">
            <a:extLst>
              <a:ext uri="{FF2B5EF4-FFF2-40B4-BE49-F238E27FC236}">
                <a16:creationId xmlns:a16="http://schemas.microsoft.com/office/drawing/2014/main" id="{3165BE2D-909F-D32E-9BDB-6CE709D11AD4}"/>
              </a:ext>
            </a:extLst>
          </p:cNvPr>
          <p:cNvSpPr txBox="1"/>
          <p:nvPr/>
        </p:nvSpPr>
        <p:spPr>
          <a:xfrm>
            <a:off x="6182227" y="5121479"/>
            <a:ext cx="5608677" cy="923330"/>
          </a:xfrm>
          <a:prstGeom prst="rect">
            <a:avLst/>
          </a:prstGeom>
          <a:noFill/>
        </p:spPr>
        <p:txBody>
          <a:bodyPr wrap="square" rtlCol="0">
            <a:spAutoFit/>
          </a:bodyPr>
          <a:lstStyle/>
          <a:p>
            <a:r>
              <a:rPr lang="en-US" dirty="0"/>
              <a:t>For comparison:</a:t>
            </a:r>
          </a:p>
          <a:p>
            <a:r>
              <a:rPr lang="en-US" dirty="0"/>
              <a:t> * 250ft of KMR400 = $156.25</a:t>
            </a:r>
          </a:p>
          <a:p>
            <a:r>
              <a:rPr lang="en-US" dirty="0"/>
              <a:t> * Commercial options I found = $400-600 minimum</a:t>
            </a:r>
          </a:p>
        </p:txBody>
      </p:sp>
    </p:spTree>
    <p:extLst>
      <p:ext uri="{BB962C8B-B14F-4D97-AF65-F5344CB8AC3E}">
        <p14:creationId xmlns:p14="http://schemas.microsoft.com/office/powerpoint/2010/main" val="311430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D66FA3-4F56-E4F9-6D0D-4B82FC985300}"/>
              </a:ext>
            </a:extLst>
          </p:cNvPr>
          <p:cNvSpPr>
            <a:spLocks noGrp="1"/>
          </p:cNvSpPr>
          <p:nvPr>
            <p:ph type="title"/>
          </p:nvPr>
        </p:nvSpPr>
        <p:spPr/>
        <p:txBody>
          <a:bodyPr/>
          <a:lstStyle/>
          <a:p>
            <a:r>
              <a:rPr lang="en-US" dirty="0"/>
              <a:t>Setup</a:t>
            </a:r>
          </a:p>
        </p:txBody>
      </p:sp>
      <p:grpSp>
        <p:nvGrpSpPr>
          <p:cNvPr id="48" name="Group 47">
            <a:extLst>
              <a:ext uri="{FF2B5EF4-FFF2-40B4-BE49-F238E27FC236}">
                <a16:creationId xmlns:a16="http://schemas.microsoft.com/office/drawing/2014/main" id="{5F59ED52-5AAF-6880-410C-9F140AC4E394}"/>
              </a:ext>
            </a:extLst>
          </p:cNvPr>
          <p:cNvGrpSpPr/>
          <p:nvPr/>
        </p:nvGrpSpPr>
        <p:grpSpPr>
          <a:xfrm>
            <a:off x="7071919" y="2226279"/>
            <a:ext cx="3811849" cy="4041577"/>
            <a:chOff x="7147420" y="1660022"/>
            <a:chExt cx="3811849" cy="4041577"/>
          </a:xfrm>
        </p:grpSpPr>
        <p:grpSp>
          <p:nvGrpSpPr>
            <p:cNvPr id="20" name="Group 19">
              <a:extLst>
                <a:ext uri="{FF2B5EF4-FFF2-40B4-BE49-F238E27FC236}">
                  <a16:creationId xmlns:a16="http://schemas.microsoft.com/office/drawing/2014/main" id="{18883E0D-40D2-046C-1C7C-F0E1A35A8F2D}"/>
                </a:ext>
              </a:extLst>
            </p:cNvPr>
            <p:cNvGrpSpPr/>
            <p:nvPr/>
          </p:nvGrpSpPr>
          <p:grpSpPr>
            <a:xfrm>
              <a:off x="9809860" y="1660022"/>
              <a:ext cx="1149409" cy="809842"/>
              <a:chOff x="9733660" y="1660022"/>
              <a:chExt cx="1149409" cy="809842"/>
            </a:xfrm>
          </p:grpSpPr>
          <p:sp>
            <p:nvSpPr>
              <p:cNvPr id="10" name="Isosceles Triangle 9">
                <a:extLst>
                  <a:ext uri="{FF2B5EF4-FFF2-40B4-BE49-F238E27FC236}">
                    <a16:creationId xmlns:a16="http://schemas.microsoft.com/office/drawing/2014/main" id="{818456D8-49F0-DB54-C8DB-D25286F274E1}"/>
                  </a:ext>
                </a:extLst>
              </p:cNvPr>
              <p:cNvSpPr/>
              <p:nvPr/>
            </p:nvSpPr>
            <p:spPr>
              <a:xfrm rot="16200000">
                <a:off x="10071220" y="1627975"/>
                <a:ext cx="470018" cy="534112"/>
              </a:xfrm>
              <a:prstGeom prst="triangl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4E2F729-B072-1D75-2CD3-6447280BF1CD}"/>
                  </a:ext>
                </a:extLst>
              </p:cNvPr>
              <p:cNvSpPr txBox="1"/>
              <p:nvPr/>
            </p:nvSpPr>
            <p:spPr>
              <a:xfrm>
                <a:off x="9733660" y="2162087"/>
                <a:ext cx="1149409" cy="307777"/>
              </a:xfrm>
              <a:prstGeom prst="rect">
                <a:avLst/>
              </a:prstGeom>
              <a:noFill/>
            </p:spPr>
            <p:txBody>
              <a:bodyPr wrap="square" rtlCol="0">
                <a:spAutoFit/>
              </a:bodyPr>
              <a:lstStyle/>
              <a:p>
                <a:pPr algn="ctr"/>
                <a:r>
                  <a:rPr lang="en-US" sz="1400" dirty="0"/>
                  <a:t>Fan Dipole</a:t>
                </a:r>
              </a:p>
            </p:txBody>
          </p:sp>
        </p:grpSp>
        <p:grpSp>
          <p:nvGrpSpPr>
            <p:cNvPr id="21" name="Group 20">
              <a:extLst>
                <a:ext uri="{FF2B5EF4-FFF2-40B4-BE49-F238E27FC236}">
                  <a16:creationId xmlns:a16="http://schemas.microsoft.com/office/drawing/2014/main" id="{418E25F7-244B-50E5-E082-E0C9AAD9F291}"/>
                </a:ext>
              </a:extLst>
            </p:cNvPr>
            <p:cNvGrpSpPr/>
            <p:nvPr/>
          </p:nvGrpSpPr>
          <p:grpSpPr>
            <a:xfrm>
              <a:off x="9809860" y="3275890"/>
              <a:ext cx="1149409" cy="809842"/>
              <a:chOff x="9733660" y="1660022"/>
              <a:chExt cx="1149409" cy="809842"/>
            </a:xfrm>
          </p:grpSpPr>
          <p:sp>
            <p:nvSpPr>
              <p:cNvPr id="22" name="Isosceles Triangle 21">
                <a:extLst>
                  <a:ext uri="{FF2B5EF4-FFF2-40B4-BE49-F238E27FC236}">
                    <a16:creationId xmlns:a16="http://schemas.microsoft.com/office/drawing/2014/main" id="{A7943E9D-DAF4-5D5C-5918-E7C4B7DAC2F4}"/>
                  </a:ext>
                </a:extLst>
              </p:cNvPr>
              <p:cNvSpPr/>
              <p:nvPr/>
            </p:nvSpPr>
            <p:spPr>
              <a:xfrm rot="16200000">
                <a:off x="10071220" y="1627975"/>
                <a:ext cx="470018" cy="534112"/>
              </a:xfrm>
              <a:prstGeom prst="triangl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1CB8E1F-6D5B-CE9C-D3B4-7E24D6F7CF59}"/>
                  </a:ext>
                </a:extLst>
              </p:cNvPr>
              <p:cNvSpPr txBox="1"/>
              <p:nvPr/>
            </p:nvSpPr>
            <p:spPr>
              <a:xfrm>
                <a:off x="9733660" y="2162087"/>
                <a:ext cx="1149409" cy="307777"/>
              </a:xfrm>
              <a:prstGeom prst="rect">
                <a:avLst/>
              </a:prstGeom>
              <a:noFill/>
            </p:spPr>
            <p:txBody>
              <a:bodyPr wrap="square" rtlCol="0">
                <a:spAutoFit/>
              </a:bodyPr>
              <a:lstStyle/>
              <a:p>
                <a:pPr algn="ctr"/>
                <a:r>
                  <a:rPr lang="en-US" sz="1400" dirty="0"/>
                  <a:t>Butternut</a:t>
                </a:r>
              </a:p>
            </p:txBody>
          </p:sp>
        </p:grpSp>
        <p:grpSp>
          <p:nvGrpSpPr>
            <p:cNvPr id="24" name="Group 23">
              <a:extLst>
                <a:ext uri="{FF2B5EF4-FFF2-40B4-BE49-F238E27FC236}">
                  <a16:creationId xmlns:a16="http://schemas.microsoft.com/office/drawing/2014/main" id="{C417FD34-150E-9709-7D05-DADB002AAEFA}"/>
                </a:ext>
              </a:extLst>
            </p:cNvPr>
            <p:cNvGrpSpPr/>
            <p:nvPr/>
          </p:nvGrpSpPr>
          <p:grpSpPr>
            <a:xfrm>
              <a:off x="9809860" y="4891757"/>
              <a:ext cx="1149409" cy="809842"/>
              <a:chOff x="9733660" y="1660022"/>
              <a:chExt cx="1149409" cy="809842"/>
            </a:xfrm>
          </p:grpSpPr>
          <p:sp>
            <p:nvSpPr>
              <p:cNvPr id="25" name="Isosceles Triangle 24">
                <a:extLst>
                  <a:ext uri="{FF2B5EF4-FFF2-40B4-BE49-F238E27FC236}">
                    <a16:creationId xmlns:a16="http://schemas.microsoft.com/office/drawing/2014/main" id="{54D476DF-F066-F1BE-1182-40927D005AC3}"/>
                  </a:ext>
                </a:extLst>
              </p:cNvPr>
              <p:cNvSpPr/>
              <p:nvPr/>
            </p:nvSpPr>
            <p:spPr>
              <a:xfrm rot="16200000">
                <a:off x="10071220" y="1627975"/>
                <a:ext cx="470018" cy="534112"/>
              </a:xfrm>
              <a:prstGeom prst="triangl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21A7742-FE0A-36AB-B479-BF5D3A890A58}"/>
                  </a:ext>
                </a:extLst>
              </p:cNvPr>
              <p:cNvSpPr txBox="1"/>
              <p:nvPr/>
            </p:nvSpPr>
            <p:spPr>
              <a:xfrm>
                <a:off x="9733660" y="2162087"/>
                <a:ext cx="1149409" cy="307777"/>
              </a:xfrm>
              <a:prstGeom prst="rect">
                <a:avLst/>
              </a:prstGeom>
              <a:noFill/>
            </p:spPr>
            <p:txBody>
              <a:bodyPr wrap="square" rtlCol="0">
                <a:spAutoFit/>
              </a:bodyPr>
              <a:lstStyle/>
              <a:p>
                <a:pPr algn="ctr"/>
                <a:r>
                  <a:rPr lang="en-US" sz="1400" dirty="0"/>
                  <a:t>Testing</a:t>
                </a:r>
              </a:p>
            </p:txBody>
          </p:sp>
        </p:grpSp>
        <p:grpSp>
          <p:nvGrpSpPr>
            <p:cNvPr id="47" name="Group 46">
              <a:extLst>
                <a:ext uri="{FF2B5EF4-FFF2-40B4-BE49-F238E27FC236}">
                  <a16:creationId xmlns:a16="http://schemas.microsoft.com/office/drawing/2014/main" id="{E7D2FFDC-2BC5-1D7B-B820-1FC0478806FE}"/>
                </a:ext>
              </a:extLst>
            </p:cNvPr>
            <p:cNvGrpSpPr/>
            <p:nvPr/>
          </p:nvGrpSpPr>
          <p:grpSpPr>
            <a:xfrm>
              <a:off x="7147420" y="1895031"/>
              <a:ext cx="2967953" cy="3231735"/>
              <a:chOff x="7147420" y="1895031"/>
              <a:chExt cx="2967953" cy="3231735"/>
            </a:xfrm>
          </p:grpSpPr>
          <p:sp>
            <p:nvSpPr>
              <p:cNvPr id="28" name="Rectangle 27">
                <a:extLst>
                  <a:ext uri="{FF2B5EF4-FFF2-40B4-BE49-F238E27FC236}">
                    <a16:creationId xmlns:a16="http://schemas.microsoft.com/office/drawing/2014/main" id="{C4A90BEE-1A87-E781-D7B7-532D3D0E3632}"/>
                  </a:ext>
                </a:extLst>
              </p:cNvPr>
              <p:cNvSpPr/>
              <p:nvPr/>
            </p:nvSpPr>
            <p:spPr>
              <a:xfrm>
                <a:off x="7147420" y="2174510"/>
                <a:ext cx="2093053" cy="2672775"/>
              </a:xfrm>
              <a:prstGeom prst="rect">
                <a:avLst/>
              </a:prstGeom>
            </p:spPr>
            <p:style>
              <a:lnRef idx="2">
                <a:schemeClr val="dk1"/>
              </a:lnRef>
              <a:fillRef idx="1">
                <a:schemeClr val="lt1"/>
              </a:fillRef>
              <a:effectRef idx="0">
                <a:schemeClr val="dk1"/>
              </a:effectRef>
              <a:fontRef idx="minor">
                <a:schemeClr val="dk1"/>
              </a:fontRef>
            </p:style>
            <p:txBody>
              <a:bodyPr rtlCol="0" anchor="b"/>
              <a:lstStyle/>
              <a:p>
                <a:pPr algn="r"/>
                <a:r>
                  <a:rPr lang="en-US" dirty="0"/>
                  <a:t>Cabinet</a:t>
                </a:r>
              </a:p>
            </p:txBody>
          </p:sp>
          <p:cxnSp>
            <p:nvCxnSpPr>
              <p:cNvPr id="32" name="Connector: Elbow 31">
                <a:extLst>
                  <a:ext uri="{FF2B5EF4-FFF2-40B4-BE49-F238E27FC236}">
                    <a16:creationId xmlns:a16="http://schemas.microsoft.com/office/drawing/2014/main" id="{9868C824-E626-B51A-90A5-265C96B17A13}"/>
                  </a:ext>
                </a:extLst>
              </p:cNvPr>
              <p:cNvCxnSpPr>
                <a:cxnSpLocks/>
                <a:endCxn id="10" idx="0"/>
              </p:cNvCxnSpPr>
              <p:nvPr/>
            </p:nvCxnSpPr>
            <p:spPr>
              <a:xfrm flipV="1">
                <a:off x="8321879" y="1895031"/>
                <a:ext cx="1793494" cy="1362071"/>
              </a:xfrm>
              <a:prstGeom prst="bentConnector3">
                <a:avLst>
                  <a:gd name="adj1" fmla="val 6403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Connector: Elbow 32">
                <a:extLst>
                  <a:ext uri="{FF2B5EF4-FFF2-40B4-BE49-F238E27FC236}">
                    <a16:creationId xmlns:a16="http://schemas.microsoft.com/office/drawing/2014/main" id="{D7375913-7D38-24D1-2052-21A438D107CC}"/>
                  </a:ext>
                </a:extLst>
              </p:cNvPr>
              <p:cNvCxnSpPr>
                <a:cxnSpLocks/>
                <a:stCxn id="29" idx="6"/>
                <a:endCxn id="22" idx="0"/>
              </p:cNvCxnSpPr>
              <p:nvPr/>
            </p:nvCxnSpPr>
            <p:spPr>
              <a:xfrm>
                <a:off x="8561691" y="3429000"/>
                <a:ext cx="1553682" cy="81899"/>
              </a:xfrm>
              <a:prstGeom prst="bent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Connector: Elbow 35">
                <a:extLst>
                  <a:ext uri="{FF2B5EF4-FFF2-40B4-BE49-F238E27FC236}">
                    <a16:creationId xmlns:a16="http://schemas.microsoft.com/office/drawing/2014/main" id="{257F0C1C-5489-6E9C-9101-811C763C06B4}"/>
                  </a:ext>
                </a:extLst>
              </p:cNvPr>
              <p:cNvCxnSpPr>
                <a:cxnSpLocks/>
                <a:endCxn id="25" idx="0"/>
              </p:cNvCxnSpPr>
              <p:nvPr/>
            </p:nvCxnSpPr>
            <p:spPr>
              <a:xfrm>
                <a:off x="8321879" y="3600898"/>
                <a:ext cx="1793494" cy="1525868"/>
              </a:xfrm>
              <a:prstGeom prst="bentConnector3">
                <a:avLst>
                  <a:gd name="adj1" fmla="val 6637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6" name="Group 45">
                <a:extLst>
                  <a:ext uri="{FF2B5EF4-FFF2-40B4-BE49-F238E27FC236}">
                    <a16:creationId xmlns:a16="http://schemas.microsoft.com/office/drawing/2014/main" id="{6670872B-C9FB-9C05-F419-B41DE0AA7EC6}"/>
                  </a:ext>
                </a:extLst>
              </p:cNvPr>
              <p:cNvGrpSpPr/>
              <p:nvPr/>
            </p:nvGrpSpPr>
            <p:grpSpPr>
              <a:xfrm>
                <a:off x="7637909" y="2953177"/>
                <a:ext cx="1166070" cy="750143"/>
                <a:chOff x="7637909" y="2953177"/>
                <a:chExt cx="1166070" cy="750143"/>
              </a:xfrm>
            </p:grpSpPr>
            <p:sp>
              <p:nvSpPr>
                <p:cNvPr id="30" name="TextBox 29">
                  <a:extLst>
                    <a:ext uri="{FF2B5EF4-FFF2-40B4-BE49-F238E27FC236}">
                      <a16:creationId xmlns:a16="http://schemas.microsoft.com/office/drawing/2014/main" id="{55F57E15-D9B9-C3D9-5DA5-1DA25F25F795}"/>
                    </a:ext>
                  </a:extLst>
                </p:cNvPr>
                <p:cNvSpPr txBox="1"/>
                <p:nvPr/>
              </p:nvSpPr>
              <p:spPr>
                <a:xfrm>
                  <a:off x="7637909" y="2953177"/>
                  <a:ext cx="1166070" cy="246221"/>
                </a:xfrm>
                <a:prstGeom prst="rect">
                  <a:avLst/>
                </a:prstGeom>
                <a:noFill/>
              </p:spPr>
              <p:txBody>
                <a:bodyPr wrap="square" rtlCol="0">
                  <a:spAutoFit/>
                </a:bodyPr>
                <a:lstStyle/>
                <a:p>
                  <a:pPr algn="ctr"/>
                  <a:r>
                    <a:rPr lang="en-US" sz="1000" dirty="0"/>
                    <a:t>Rotating Switch</a:t>
                  </a:r>
                </a:p>
              </p:txBody>
            </p:sp>
            <p:sp>
              <p:nvSpPr>
                <p:cNvPr id="29" name="Flowchart: Summing Junction 28">
                  <a:extLst>
                    <a:ext uri="{FF2B5EF4-FFF2-40B4-BE49-F238E27FC236}">
                      <a16:creationId xmlns:a16="http://schemas.microsoft.com/office/drawing/2014/main" id="{8F0E9F9B-335B-D35A-2B18-0D52136B5C84}"/>
                    </a:ext>
                  </a:extLst>
                </p:cNvPr>
                <p:cNvSpPr/>
                <p:nvPr/>
              </p:nvSpPr>
              <p:spPr>
                <a:xfrm>
                  <a:off x="7921611" y="3154680"/>
                  <a:ext cx="640080" cy="548640"/>
                </a:xfrm>
                <a:prstGeom prst="flowChartSummingJunction">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grpSp>
      </p:grpSp>
      <p:grpSp>
        <p:nvGrpSpPr>
          <p:cNvPr id="65" name="Group 64">
            <a:extLst>
              <a:ext uri="{FF2B5EF4-FFF2-40B4-BE49-F238E27FC236}">
                <a16:creationId xmlns:a16="http://schemas.microsoft.com/office/drawing/2014/main" id="{E181A5C8-4521-6CAA-648D-860D1526E0D7}"/>
              </a:ext>
            </a:extLst>
          </p:cNvPr>
          <p:cNvGrpSpPr/>
          <p:nvPr/>
        </p:nvGrpSpPr>
        <p:grpSpPr>
          <a:xfrm>
            <a:off x="6934941" y="4614395"/>
            <a:ext cx="678069" cy="623711"/>
            <a:chOff x="7010442" y="4080364"/>
            <a:chExt cx="678069" cy="623711"/>
          </a:xfrm>
        </p:grpSpPr>
        <p:sp>
          <p:nvSpPr>
            <p:cNvPr id="62" name="Rectangle 61">
              <a:extLst>
                <a:ext uri="{FF2B5EF4-FFF2-40B4-BE49-F238E27FC236}">
                  <a16:creationId xmlns:a16="http://schemas.microsoft.com/office/drawing/2014/main" id="{CF259290-E66F-5DE3-CAD6-FB9005B804B2}"/>
                </a:ext>
              </a:extLst>
            </p:cNvPr>
            <p:cNvSpPr/>
            <p:nvPr/>
          </p:nvSpPr>
          <p:spPr>
            <a:xfrm>
              <a:off x="7311006" y="4135772"/>
              <a:ext cx="377505" cy="56830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vert270" rtlCol="0" anchor="ctr"/>
            <a:lstStyle/>
            <a:p>
              <a:pPr algn="ctr"/>
              <a:r>
                <a:rPr lang="en-US" sz="1000" dirty="0" err="1"/>
                <a:t>Heltec</a:t>
              </a:r>
              <a:r>
                <a:rPr lang="en-US" sz="1000" dirty="0"/>
                <a:t> Outside</a:t>
              </a:r>
            </a:p>
          </p:txBody>
        </p:sp>
        <p:sp>
          <p:nvSpPr>
            <p:cNvPr id="64" name="Isosceles Triangle 63">
              <a:extLst>
                <a:ext uri="{FF2B5EF4-FFF2-40B4-BE49-F238E27FC236}">
                  <a16:creationId xmlns:a16="http://schemas.microsoft.com/office/drawing/2014/main" id="{DF0AF8DF-B800-AD32-C483-4D0D89433031}"/>
                </a:ext>
              </a:extLst>
            </p:cNvPr>
            <p:cNvSpPr/>
            <p:nvPr/>
          </p:nvSpPr>
          <p:spPr>
            <a:xfrm rot="5400000">
              <a:off x="7080159" y="4010647"/>
              <a:ext cx="134521" cy="273956"/>
            </a:xfrm>
            <a:prstGeom prst="triangl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27E7BE9B-899A-061E-B2FF-8050762FCABF}"/>
              </a:ext>
            </a:extLst>
          </p:cNvPr>
          <p:cNvGrpSpPr/>
          <p:nvPr/>
        </p:nvGrpSpPr>
        <p:grpSpPr>
          <a:xfrm>
            <a:off x="7018789" y="1185903"/>
            <a:ext cx="1990987" cy="857157"/>
            <a:chOff x="7094290" y="619646"/>
            <a:chExt cx="1990987" cy="857157"/>
          </a:xfrm>
        </p:grpSpPr>
        <p:sp>
          <p:nvSpPr>
            <p:cNvPr id="67" name="Parallelogram 66">
              <a:extLst>
                <a:ext uri="{FF2B5EF4-FFF2-40B4-BE49-F238E27FC236}">
                  <a16:creationId xmlns:a16="http://schemas.microsoft.com/office/drawing/2014/main" id="{0E27CFB6-CFD4-4E95-3C29-677DEBCF7DF1}"/>
                </a:ext>
              </a:extLst>
            </p:cNvPr>
            <p:cNvSpPr/>
            <p:nvPr/>
          </p:nvSpPr>
          <p:spPr>
            <a:xfrm>
              <a:off x="7738844" y="619646"/>
              <a:ext cx="1346433" cy="608202"/>
            </a:xfrm>
            <a:prstGeom prst="parallelogram">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Solar Panel</a:t>
              </a:r>
            </a:p>
          </p:txBody>
        </p:sp>
        <p:cxnSp>
          <p:nvCxnSpPr>
            <p:cNvPr id="69" name="Connector: Elbow 68">
              <a:extLst>
                <a:ext uri="{FF2B5EF4-FFF2-40B4-BE49-F238E27FC236}">
                  <a16:creationId xmlns:a16="http://schemas.microsoft.com/office/drawing/2014/main" id="{CAB2E58A-751D-5EF5-309B-3CC4CF59FB21}"/>
                </a:ext>
              </a:extLst>
            </p:cNvPr>
            <p:cNvCxnSpPr>
              <a:stCxn id="67" idx="3"/>
            </p:cNvCxnSpPr>
            <p:nvPr/>
          </p:nvCxnSpPr>
          <p:spPr>
            <a:xfrm rot="5400000">
              <a:off x="7654578" y="667561"/>
              <a:ext cx="121171" cy="1241745"/>
            </a:xfrm>
            <a:prstGeom prst="bentConnector2">
              <a:avLst/>
            </a:prstGeom>
          </p:spPr>
          <p:style>
            <a:lnRef idx="2">
              <a:schemeClr val="dk1"/>
            </a:lnRef>
            <a:fillRef idx="0">
              <a:schemeClr val="dk1"/>
            </a:fillRef>
            <a:effectRef idx="1">
              <a:schemeClr val="dk1"/>
            </a:effectRef>
            <a:fontRef idx="minor">
              <a:schemeClr val="tx1"/>
            </a:fontRef>
          </p:style>
        </p:cxnSp>
        <p:cxnSp>
          <p:nvCxnSpPr>
            <p:cNvPr id="70" name="Connector: Elbow 69">
              <a:extLst>
                <a:ext uri="{FF2B5EF4-FFF2-40B4-BE49-F238E27FC236}">
                  <a16:creationId xmlns:a16="http://schemas.microsoft.com/office/drawing/2014/main" id="{3D44F4CA-3339-85EE-0ED2-D24562191762}"/>
                </a:ext>
              </a:extLst>
            </p:cNvPr>
            <p:cNvCxnSpPr>
              <a:cxnSpLocks/>
              <a:stCxn id="67" idx="4"/>
              <a:endCxn id="66" idx="3"/>
            </p:cNvCxnSpPr>
            <p:nvPr/>
          </p:nvCxnSpPr>
          <p:spPr>
            <a:xfrm rot="5400000">
              <a:off x="7628699" y="693440"/>
              <a:ext cx="248954" cy="1317771"/>
            </a:xfrm>
            <a:prstGeom prst="bentConnector2">
              <a:avLst/>
            </a:prstGeom>
            <a:ln>
              <a:solidFill>
                <a:srgbClr val="FF0000"/>
              </a:solidFill>
            </a:ln>
          </p:spPr>
          <p:style>
            <a:lnRef idx="2">
              <a:schemeClr val="dk1"/>
            </a:lnRef>
            <a:fillRef idx="0">
              <a:schemeClr val="dk1"/>
            </a:fillRef>
            <a:effectRef idx="1">
              <a:schemeClr val="dk1"/>
            </a:effectRef>
            <a:fontRef idx="minor">
              <a:schemeClr val="tx1"/>
            </a:fontRef>
          </p:style>
        </p:cxnSp>
      </p:grpSp>
      <p:grpSp>
        <p:nvGrpSpPr>
          <p:cNvPr id="88" name="Group 87">
            <a:extLst>
              <a:ext uri="{FF2B5EF4-FFF2-40B4-BE49-F238E27FC236}">
                <a16:creationId xmlns:a16="http://schemas.microsoft.com/office/drawing/2014/main" id="{B558B405-1C79-54D9-4A79-A70F33C6C250}"/>
              </a:ext>
            </a:extLst>
          </p:cNvPr>
          <p:cNvGrpSpPr/>
          <p:nvPr/>
        </p:nvGrpSpPr>
        <p:grpSpPr>
          <a:xfrm>
            <a:off x="6020499" y="1727001"/>
            <a:ext cx="1381983" cy="1309120"/>
            <a:chOff x="6096000" y="1160744"/>
            <a:chExt cx="1381983" cy="1309120"/>
          </a:xfrm>
        </p:grpSpPr>
        <p:cxnSp>
          <p:nvCxnSpPr>
            <p:cNvPr id="73" name="Connector: Elbow 72">
              <a:extLst>
                <a:ext uri="{FF2B5EF4-FFF2-40B4-BE49-F238E27FC236}">
                  <a16:creationId xmlns:a16="http://schemas.microsoft.com/office/drawing/2014/main" id="{0FCEC06E-1A16-55AB-A0C5-3C5C1C56E5B4}"/>
                </a:ext>
              </a:extLst>
            </p:cNvPr>
            <p:cNvCxnSpPr>
              <a:cxnSpLocks/>
            </p:cNvCxnSpPr>
            <p:nvPr/>
          </p:nvCxnSpPr>
          <p:spPr>
            <a:xfrm rot="16200000" flipH="1">
              <a:off x="6763872" y="1755656"/>
              <a:ext cx="722251" cy="705971"/>
            </a:xfrm>
            <a:prstGeom prst="bentConnector3">
              <a:avLst>
                <a:gd name="adj1" fmla="val -8075"/>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79" name="Connector: Elbow 78">
              <a:extLst>
                <a:ext uri="{FF2B5EF4-FFF2-40B4-BE49-F238E27FC236}">
                  <a16:creationId xmlns:a16="http://schemas.microsoft.com/office/drawing/2014/main" id="{54CC99DF-2F57-7D52-85DE-39104BF1EBA4}"/>
                </a:ext>
              </a:extLst>
            </p:cNvPr>
            <p:cNvCxnSpPr>
              <a:cxnSpLocks/>
            </p:cNvCxnSpPr>
            <p:nvPr/>
          </p:nvCxnSpPr>
          <p:spPr>
            <a:xfrm>
              <a:off x="6608943" y="1783316"/>
              <a:ext cx="702063" cy="686548"/>
            </a:xfrm>
            <a:prstGeom prst="bentConnector3">
              <a:avLst>
                <a:gd name="adj1" fmla="val 98394"/>
              </a:avLst>
            </a:prstGeom>
          </p:spPr>
          <p:style>
            <a:lnRef idx="2">
              <a:schemeClr val="dk1"/>
            </a:lnRef>
            <a:fillRef idx="0">
              <a:schemeClr val="dk1"/>
            </a:fillRef>
            <a:effectRef idx="1">
              <a:schemeClr val="dk1"/>
            </a:effectRef>
            <a:fontRef idx="minor">
              <a:schemeClr val="tx1"/>
            </a:fontRef>
          </p:style>
        </p:cxnSp>
        <p:sp>
          <p:nvSpPr>
            <p:cNvPr id="66" name="Rectangle 65">
              <a:extLst>
                <a:ext uri="{FF2B5EF4-FFF2-40B4-BE49-F238E27FC236}">
                  <a16:creationId xmlns:a16="http://schemas.microsoft.com/office/drawing/2014/main" id="{EEEC072A-C561-7502-7667-6E60C4AD9242}"/>
                </a:ext>
              </a:extLst>
            </p:cNvPr>
            <p:cNvSpPr/>
            <p:nvPr/>
          </p:nvSpPr>
          <p:spPr>
            <a:xfrm>
              <a:off x="6096000" y="1160744"/>
              <a:ext cx="998290" cy="6321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12V Bat</a:t>
              </a:r>
            </a:p>
          </p:txBody>
        </p:sp>
      </p:grpSp>
      <p:grpSp>
        <p:nvGrpSpPr>
          <p:cNvPr id="106" name="Group 105">
            <a:extLst>
              <a:ext uri="{FF2B5EF4-FFF2-40B4-BE49-F238E27FC236}">
                <a16:creationId xmlns:a16="http://schemas.microsoft.com/office/drawing/2014/main" id="{525F7724-125B-4744-80D8-DFEFFC46CB13}"/>
              </a:ext>
            </a:extLst>
          </p:cNvPr>
          <p:cNvGrpSpPr/>
          <p:nvPr/>
        </p:nvGrpSpPr>
        <p:grpSpPr>
          <a:xfrm>
            <a:off x="7140104" y="3034285"/>
            <a:ext cx="829437" cy="1667744"/>
            <a:chOff x="7215605" y="2468028"/>
            <a:chExt cx="829437" cy="1667744"/>
          </a:xfrm>
        </p:grpSpPr>
        <p:cxnSp>
          <p:nvCxnSpPr>
            <p:cNvPr id="92" name="Connector: Elbow 91">
              <a:extLst>
                <a:ext uri="{FF2B5EF4-FFF2-40B4-BE49-F238E27FC236}">
                  <a16:creationId xmlns:a16="http://schemas.microsoft.com/office/drawing/2014/main" id="{B29CF375-FAB3-07C6-73CD-BBAC6ABEFBF5}"/>
                </a:ext>
              </a:extLst>
            </p:cNvPr>
            <p:cNvCxnSpPr>
              <a:cxnSpLocks/>
            </p:cNvCxnSpPr>
            <p:nvPr/>
          </p:nvCxnSpPr>
          <p:spPr>
            <a:xfrm rot="16200000" flipH="1">
              <a:off x="6675315" y="3445553"/>
              <a:ext cx="1325910" cy="54528"/>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95" name="Connector: Elbow 94">
              <a:extLst>
                <a:ext uri="{FF2B5EF4-FFF2-40B4-BE49-F238E27FC236}">
                  <a16:creationId xmlns:a16="http://schemas.microsoft.com/office/drawing/2014/main" id="{2B8E4D54-52EF-56A6-40D0-C4D97753A1CA}"/>
                </a:ext>
              </a:extLst>
            </p:cNvPr>
            <p:cNvCxnSpPr>
              <a:cxnSpLocks/>
            </p:cNvCxnSpPr>
            <p:nvPr/>
          </p:nvCxnSpPr>
          <p:spPr>
            <a:xfrm rot="16200000" flipH="1">
              <a:off x="7395188" y="3174210"/>
              <a:ext cx="1014301" cy="285407"/>
            </a:xfrm>
            <a:prstGeom prst="bentConnector3">
              <a:avLst>
                <a:gd name="adj1" fmla="val 100451"/>
              </a:avLst>
            </a:prstGeom>
          </p:spPr>
          <p:style>
            <a:lnRef idx="2">
              <a:schemeClr val="dk1"/>
            </a:lnRef>
            <a:fillRef idx="0">
              <a:schemeClr val="dk1"/>
            </a:fillRef>
            <a:effectRef idx="1">
              <a:schemeClr val="dk1"/>
            </a:effectRef>
            <a:fontRef idx="minor">
              <a:schemeClr val="tx1"/>
            </a:fontRef>
          </p:style>
        </p:cxnSp>
        <p:cxnSp>
          <p:nvCxnSpPr>
            <p:cNvPr id="99" name="Connector: Elbow 98">
              <a:extLst>
                <a:ext uri="{FF2B5EF4-FFF2-40B4-BE49-F238E27FC236}">
                  <a16:creationId xmlns:a16="http://schemas.microsoft.com/office/drawing/2014/main" id="{98DAB18D-DC63-78D9-7BEC-6E1216A6F3D5}"/>
                </a:ext>
              </a:extLst>
            </p:cNvPr>
            <p:cNvCxnSpPr>
              <a:cxnSpLocks/>
              <a:endCxn id="62" idx="0"/>
            </p:cNvCxnSpPr>
            <p:nvPr/>
          </p:nvCxnSpPr>
          <p:spPr>
            <a:xfrm rot="16200000" flipH="1">
              <a:off x="6833002" y="3436789"/>
              <a:ext cx="1258012" cy="75501"/>
            </a:xfrm>
            <a:prstGeom prst="bentConnector3">
              <a:avLst>
                <a:gd name="adj1" fmla="val 50000"/>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02" name="Connector: Elbow 101">
              <a:extLst>
                <a:ext uri="{FF2B5EF4-FFF2-40B4-BE49-F238E27FC236}">
                  <a16:creationId xmlns:a16="http://schemas.microsoft.com/office/drawing/2014/main" id="{3505865E-82A9-FF97-EA93-2158F87B15F1}"/>
                </a:ext>
              </a:extLst>
            </p:cNvPr>
            <p:cNvCxnSpPr>
              <a:cxnSpLocks/>
            </p:cNvCxnSpPr>
            <p:nvPr/>
          </p:nvCxnSpPr>
          <p:spPr>
            <a:xfrm rot="16200000" flipH="1">
              <a:off x="7270130" y="3153198"/>
              <a:ext cx="1193293" cy="356530"/>
            </a:xfrm>
            <a:prstGeom prst="bentConnector3">
              <a:avLst>
                <a:gd name="adj1" fmla="val 101672"/>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91" name="Rectangle 90">
              <a:extLst>
                <a:ext uri="{FF2B5EF4-FFF2-40B4-BE49-F238E27FC236}">
                  <a16:creationId xmlns:a16="http://schemas.microsoft.com/office/drawing/2014/main" id="{21E432EC-7FFC-B578-9466-B3A55313D84B}"/>
                </a:ext>
              </a:extLst>
            </p:cNvPr>
            <p:cNvSpPr/>
            <p:nvPr/>
          </p:nvSpPr>
          <p:spPr>
            <a:xfrm rot="5400000">
              <a:off x="7416403" y="2267230"/>
              <a:ext cx="377505" cy="77910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vert270" rtlCol="0" anchor="ctr"/>
            <a:lstStyle/>
            <a:p>
              <a:pPr algn="ctr"/>
              <a:r>
                <a:rPr lang="en-US" sz="800" dirty="0"/>
                <a:t>DC-DC Downconverter</a:t>
              </a:r>
            </a:p>
          </p:txBody>
        </p:sp>
      </p:grpSp>
      <p:cxnSp>
        <p:nvCxnSpPr>
          <p:cNvPr id="107" name="Connector: Elbow 106">
            <a:extLst>
              <a:ext uri="{FF2B5EF4-FFF2-40B4-BE49-F238E27FC236}">
                <a16:creationId xmlns:a16="http://schemas.microsoft.com/office/drawing/2014/main" id="{EF72A35A-4C2A-AB3D-C187-2012B490D74A}"/>
              </a:ext>
            </a:extLst>
          </p:cNvPr>
          <p:cNvCxnSpPr>
            <a:cxnSpLocks/>
            <a:endCxn id="28" idx="1"/>
          </p:cNvCxnSpPr>
          <p:nvPr/>
        </p:nvCxnSpPr>
        <p:spPr>
          <a:xfrm>
            <a:off x="2579615" y="2905783"/>
            <a:ext cx="4492304" cy="1171372"/>
          </a:xfrm>
          <a:prstGeom prst="bent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3" name="Rectangle 112">
            <a:extLst>
              <a:ext uri="{FF2B5EF4-FFF2-40B4-BE49-F238E27FC236}">
                <a16:creationId xmlns:a16="http://schemas.microsoft.com/office/drawing/2014/main" id="{4DBEAA2B-2D2F-AAC2-9D1B-5EB25A01CC63}"/>
              </a:ext>
            </a:extLst>
          </p:cNvPr>
          <p:cNvSpPr/>
          <p:nvPr/>
        </p:nvSpPr>
        <p:spPr>
          <a:xfrm>
            <a:off x="1658522" y="2566174"/>
            <a:ext cx="998290" cy="63211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Radio</a:t>
            </a:r>
          </a:p>
        </p:txBody>
      </p:sp>
      <p:grpSp>
        <p:nvGrpSpPr>
          <p:cNvPr id="114" name="Group 113">
            <a:extLst>
              <a:ext uri="{FF2B5EF4-FFF2-40B4-BE49-F238E27FC236}">
                <a16:creationId xmlns:a16="http://schemas.microsoft.com/office/drawing/2014/main" id="{BD23E25B-9460-9F63-A56E-12429D71FD6B}"/>
              </a:ext>
            </a:extLst>
          </p:cNvPr>
          <p:cNvGrpSpPr/>
          <p:nvPr/>
        </p:nvGrpSpPr>
        <p:grpSpPr>
          <a:xfrm>
            <a:off x="2973898" y="4786510"/>
            <a:ext cx="654343" cy="634452"/>
            <a:chOff x="7311006" y="4069623"/>
            <a:chExt cx="654343" cy="634452"/>
          </a:xfrm>
        </p:grpSpPr>
        <p:sp>
          <p:nvSpPr>
            <p:cNvPr id="115" name="Rectangle 114">
              <a:extLst>
                <a:ext uri="{FF2B5EF4-FFF2-40B4-BE49-F238E27FC236}">
                  <a16:creationId xmlns:a16="http://schemas.microsoft.com/office/drawing/2014/main" id="{32AD636D-611D-70AB-69EB-0362D1B68CD6}"/>
                </a:ext>
              </a:extLst>
            </p:cNvPr>
            <p:cNvSpPr/>
            <p:nvPr/>
          </p:nvSpPr>
          <p:spPr>
            <a:xfrm>
              <a:off x="7311006" y="4135772"/>
              <a:ext cx="377505" cy="56830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vert270" rtlCol="0" anchor="ctr"/>
            <a:lstStyle/>
            <a:p>
              <a:pPr algn="ctr"/>
              <a:r>
                <a:rPr lang="en-US" sz="1000" dirty="0" err="1"/>
                <a:t>Heltec</a:t>
              </a:r>
              <a:r>
                <a:rPr lang="en-US" sz="1000" dirty="0"/>
                <a:t> Inside</a:t>
              </a:r>
            </a:p>
          </p:txBody>
        </p:sp>
        <p:sp>
          <p:nvSpPr>
            <p:cNvPr id="116" name="Isosceles Triangle 115">
              <a:extLst>
                <a:ext uri="{FF2B5EF4-FFF2-40B4-BE49-F238E27FC236}">
                  <a16:creationId xmlns:a16="http://schemas.microsoft.com/office/drawing/2014/main" id="{4A0E2C98-4FDB-47D7-B885-7A68D1FA496A}"/>
                </a:ext>
              </a:extLst>
            </p:cNvPr>
            <p:cNvSpPr/>
            <p:nvPr/>
          </p:nvSpPr>
          <p:spPr>
            <a:xfrm rot="16200000">
              <a:off x="7761110" y="3999906"/>
              <a:ext cx="134521" cy="273956"/>
            </a:xfrm>
            <a:prstGeom prst="triangl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8" name="Connector: Elbow 117">
            <a:extLst>
              <a:ext uri="{FF2B5EF4-FFF2-40B4-BE49-F238E27FC236}">
                <a16:creationId xmlns:a16="http://schemas.microsoft.com/office/drawing/2014/main" id="{9F33ABE3-8527-DB39-2226-6968D279A6CE}"/>
              </a:ext>
            </a:extLst>
          </p:cNvPr>
          <p:cNvCxnSpPr>
            <a:stCxn id="62" idx="3"/>
            <a:endCxn id="49" idx="0"/>
          </p:cNvCxnSpPr>
          <p:nvPr/>
        </p:nvCxnSpPr>
        <p:spPr>
          <a:xfrm flipV="1">
            <a:off x="7613010" y="4415278"/>
            <a:ext cx="910205" cy="538677"/>
          </a:xfrm>
          <a:prstGeom prst="bentConnector3">
            <a:avLst>
              <a:gd name="adj1" fmla="val 125115"/>
            </a:avLst>
          </a:prstGeom>
        </p:spPr>
        <p:style>
          <a:lnRef idx="2">
            <a:schemeClr val="accent2"/>
          </a:lnRef>
          <a:fillRef idx="0">
            <a:schemeClr val="accent2"/>
          </a:fillRef>
          <a:effectRef idx="1">
            <a:schemeClr val="accent2"/>
          </a:effectRef>
          <a:fontRef idx="minor">
            <a:schemeClr val="tx1"/>
          </a:fontRef>
        </p:style>
      </p:cxnSp>
      <p:sp>
        <p:nvSpPr>
          <p:cNvPr id="120" name="TextBox 119">
            <a:extLst>
              <a:ext uri="{FF2B5EF4-FFF2-40B4-BE49-F238E27FC236}">
                <a16:creationId xmlns:a16="http://schemas.microsoft.com/office/drawing/2014/main" id="{1231A68C-393A-B374-8005-F6C9EB869922}"/>
              </a:ext>
            </a:extLst>
          </p:cNvPr>
          <p:cNvSpPr txBox="1"/>
          <p:nvPr/>
        </p:nvSpPr>
        <p:spPr>
          <a:xfrm>
            <a:off x="2579615" y="5420962"/>
            <a:ext cx="1166070" cy="246221"/>
          </a:xfrm>
          <a:prstGeom prst="rect">
            <a:avLst/>
          </a:prstGeom>
          <a:noFill/>
        </p:spPr>
        <p:txBody>
          <a:bodyPr wrap="square" rtlCol="0">
            <a:spAutoFit/>
          </a:bodyPr>
          <a:lstStyle/>
          <a:p>
            <a:pPr algn="ctr"/>
            <a:r>
              <a:rPr lang="en-US" sz="1000" dirty="0"/>
              <a:t>192.168.1.30</a:t>
            </a:r>
          </a:p>
        </p:txBody>
      </p:sp>
      <p:sp>
        <p:nvSpPr>
          <p:cNvPr id="126" name="Rectangle 125">
            <a:extLst>
              <a:ext uri="{FF2B5EF4-FFF2-40B4-BE49-F238E27FC236}">
                <a16:creationId xmlns:a16="http://schemas.microsoft.com/office/drawing/2014/main" id="{C09D09AB-22B3-2F76-1A91-626002AAF3F8}"/>
              </a:ext>
            </a:extLst>
          </p:cNvPr>
          <p:cNvSpPr/>
          <p:nvPr/>
        </p:nvSpPr>
        <p:spPr>
          <a:xfrm>
            <a:off x="1658522" y="3411791"/>
            <a:ext cx="998290" cy="632116"/>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PC</a:t>
            </a:r>
          </a:p>
        </p:txBody>
      </p:sp>
      <p:cxnSp>
        <p:nvCxnSpPr>
          <p:cNvPr id="128" name="Connector: Elbow 127">
            <a:extLst>
              <a:ext uri="{FF2B5EF4-FFF2-40B4-BE49-F238E27FC236}">
                <a16:creationId xmlns:a16="http://schemas.microsoft.com/office/drawing/2014/main" id="{DC0226A3-6465-0A43-3960-66917A2B6184}"/>
              </a:ext>
            </a:extLst>
          </p:cNvPr>
          <p:cNvCxnSpPr>
            <a:stCxn id="113" idx="1"/>
            <a:endCxn id="126" idx="1"/>
          </p:cNvCxnSpPr>
          <p:nvPr/>
        </p:nvCxnSpPr>
        <p:spPr>
          <a:xfrm rot="10800000" flipV="1">
            <a:off x="1658522" y="2882231"/>
            <a:ext cx="12700" cy="845617"/>
          </a:xfrm>
          <a:prstGeom prst="bentConnector3">
            <a:avLst>
              <a:gd name="adj1" fmla="val 1800000"/>
            </a:avLst>
          </a:prstGeom>
        </p:spPr>
        <p:style>
          <a:lnRef idx="2">
            <a:schemeClr val="dk1"/>
          </a:lnRef>
          <a:fillRef idx="0">
            <a:schemeClr val="dk1"/>
          </a:fillRef>
          <a:effectRef idx="1">
            <a:schemeClr val="dk1"/>
          </a:effectRef>
          <a:fontRef idx="minor">
            <a:schemeClr val="tx1"/>
          </a:fontRef>
        </p:style>
      </p:cxnSp>
      <p:sp>
        <p:nvSpPr>
          <p:cNvPr id="130" name="TextBox 129">
            <a:extLst>
              <a:ext uri="{FF2B5EF4-FFF2-40B4-BE49-F238E27FC236}">
                <a16:creationId xmlns:a16="http://schemas.microsoft.com/office/drawing/2014/main" id="{97DAF49F-F426-D7B9-FC07-7F36A224446E}"/>
              </a:ext>
            </a:extLst>
          </p:cNvPr>
          <p:cNvSpPr txBox="1"/>
          <p:nvPr/>
        </p:nvSpPr>
        <p:spPr>
          <a:xfrm>
            <a:off x="3812273" y="2692847"/>
            <a:ext cx="1166070" cy="246221"/>
          </a:xfrm>
          <a:prstGeom prst="rect">
            <a:avLst/>
          </a:prstGeom>
          <a:noFill/>
        </p:spPr>
        <p:txBody>
          <a:bodyPr wrap="square" rtlCol="0">
            <a:spAutoFit/>
          </a:bodyPr>
          <a:lstStyle/>
          <a:p>
            <a:pPr algn="ctr"/>
            <a:r>
              <a:rPr lang="en-US" sz="1000" dirty="0">
                <a:sym typeface="Wingdings" panose="05000000000000000000" pitchFamily="2" charset="2"/>
              </a:rPr>
              <a:t></a:t>
            </a:r>
            <a:r>
              <a:rPr lang="en-US" sz="1000" dirty="0"/>
              <a:t>250ft</a:t>
            </a:r>
            <a:r>
              <a:rPr lang="en-US" sz="1000" dirty="0">
                <a:sym typeface="Wingdings" panose="05000000000000000000" pitchFamily="2" charset="2"/>
              </a:rPr>
              <a:t></a:t>
            </a:r>
            <a:endParaRPr lang="en-US" sz="1000" dirty="0"/>
          </a:p>
        </p:txBody>
      </p:sp>
      <p:grpSp>
        <p:nvGrpSpPr>
          <p:cNvPr id="52" name="Group 51">
            <a:extLst>
              <a:ext uri="{FF2B5EF4-FFF2-40B4-BE49-F238E27FC236}">
                <a16:creationId xmlns:a16="http://schemas.microsoft.com/office/drawing/2014/main" id="{8483F75D-7630-FCDB-07E6-9E254592B234}"/>
              </a:ext>
            </a:extLst>
          </p:cNvPr>
          <p:cNvGrpSpPr/>
          <p:nvPr/>
        </p:nvGrpSpPr>
        <p:grpSpPr>
          <a:xfrm>
            <a:off x="7583115" y="4269577"/>
            <a:ext cx="1166070" cy="516933"/>
            <a:chOff x="7658616" y="3703320"/>
            <a:chExt cx="1166070" cy="516933"/>
          </a:xfrm>
        </p:grpSpPr>
        <p:sp>
          <p:nvSpPr>
            <p:cNvPr id="49" name="Rectangle: Top Corners Snipped 48">
              <a:extLst>
                <a:ext uri="{FF2B5EF4-FFF2-40B4-BE49-F238E27FC236}">
                  <a16:creationId xmlns:a16="http://schemas.microsoft.com/office/drawing/2014/main" id="{4A8826CF-A44F-66D7-7DAA-67F00F5AEC4D}"/>
                </a:ext>
              </a:extLst>
            </p:cNvPr>
            <p:cNvSpPr/>
            <p:nvPr/>
          </p:nvSpPr>
          <p:spPr>
            <a:xfrm>
              <a:off x="7921611" y="3703320"/>
              <a:ext cx="677105" cy="291401"/>
            </a:xfrm>
            <a:prstGeom prst="snip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5F9E485-3A0B-E039-BF69-43B77EF2CC3E}"/>
                </a:ext>
              </a:extLst>
            </p:cNvPr>
            <p:cNvSpPr txBox="1"/>
            <p:nvPr/>
          </p:nvSpPr>
          <p:spPr>
            <a:xfrm>
              <a:off x="7658616" y="3974032"/>
              <a:ext cx="1166070" cy="246221"/>
            </a:xfrm>
            <a:prstGeom prst="rect">
              <a:avLst/>
            </a:prstGeom>
            <a:noFill/>
          </p:spPr>
          <p:txBody>
            <a:bodyPr wrap="square" rtlCol="0">
              <a:spAutoFit/>
            </a:bodyPr>
            <a:lstStyle/>
            <a:p>
              <a:pPr algn="ctr"/>
              <a:r>
                <a:rPr lang="en-US" sz="1000" dirty="0"/>
                <a:t>Servo</a:t>
              </a:r>
            </a:p>
          </p:txBody>
        </p:sp>
      </p:grpSp>
    </p:spTree>
    <p:extLst>
      <p:ext uri="{BB962C8B-B14F-4D97-AF65-F5344CB8AC3E}">
        <p14:creationId xmlns:p14="http://schemas.microsoft.com/office/powerpoint/2010/main" val="173024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3E8DD-4284-4D87-15BC-399761FE188C}"/>
              </a:ext>
            </a:extLst>
          </p:cNvPr>
          <p:cNvSpPr>
            <a:spLocks noGrp="1"/>
          </p:cNvSpPr>
          <p:nvPr>
            <p:ph type="title"/>
          </p:nvPr>
        </p:nvSpPr>
        <p:spPr/>
        <p:txBody>
          <a:bodyPr/>
          <a:lstStyle/>
          <a:p>
            <a:r>
              <a:rPr lang="en-US" dirty="0"/>
              <a:t>Construction</a:t>
            </a:r>
          </a:p>
        </p:txBody>
      </p:sp>
      <p:sp>
        <p:nvSpPr>
          <p:cNvPr id="3" name="Content Placeholder 2">
            <a:extLst>
              <a:ext uri="{FF2B5EF4-FFF2-40B4-BE49-F238E27FC236}">
                <a16:creationId xmlns:a16="http://schemas.microsoft.com/office/drawing/2014/main" id="{615FB6AF-48FC-85CC-260E-081585DEC582}"/>
              </a:ext>
            </a:extLst>
          </p:cNvPr>
          <p:cNvSpPr>
            <a:spLocks noGrp="1"/>
          </p:cNvSpPr>
          <p:nvPr>
            <p:ph sz="half" idx="1"/>
          </p:nvPr>
        </p:nvSpPr>
        <p:spPr/>
        <p:txBody>
          <a:bodyPr/>
          <a:lstStyle/>
          <a:p>
            <a:r>
              <a:rPr lang="en-US" dirty="0"/>
              <a:t>Picture 1 shows the switch  mounted to inside of case using 3d printed mounts and the servo attached to the rotor of the switch with a 3d printed mount</a:t>
            </a:r>
          </a:p>
          <a:p>
            <a:r>
              <a:rPr lang="en-US" dirty="0"/>
              <a:t>Picture 2 shows </a:t>
            </a:r>
            <a:r>
              <a:rPr lang="en-US" dirty="0" err="1"/>
              <a:t>heltec</a:t>
            </a:r>
            <a:r>
              <a:rPr lang="en-US" dirty="0"/>
              <a:t>, wiring, and buck converter mounted to inside of door during testing</a:t>
            </a:r>
          </a:p>
        </p:txBody>
      </p:sp>
      <p:pic>
        <p:nvPicPr>
          <p:cNvPr id="6" name="Content Placeholder 5">
            <a:extLst>
              <a:ext uri="{FF2B5EF4-FFF2-40B4-BE49-F238E27FC236}">
                <a16:creationId xmlns:a16="http://schemas.microsoft.com/office/drawing/2014/main" id="{B7E699FE-9F97-654F-D010-1DCF85BD5E2E}"/>
              </a:ext>
            </a:extLst>
          </p:cNvPr>
          <p:cNvPicPr>
            <a:picLocks noGrp="1" noChangeAspect="1"/>
          </p:cNvPicPr>
          <p:nvPr>
            <p:ph sz="half" idx="2"/>
          </p:nvPr>
        </p:nvPicPr>
        <p:blipFill>
          <a:blip r:embed="rId2"/>
          <a:stretch>
            <a:fillRect/>
          </a:stretch>
        </p:blipFill>
        <p:spPr>
          <a:xfrm>
            <a:off x="6230925" y="870113"/>
            <a:ext cx="2851473" cy="2905105"/>
          </a:xfrm>
          <a:prstGeom prst="rect">
            <a:avLst/>
          </a:prstGeom>
        </p:spPr>
      </p:pic>
      <p:sp>
        <p:nvSpPr>
          <p:cNvPr id="9" name="Rectangle 8">
            <a:extLst>
              <a:ext uri="{FF2B5EF4-FFF2-40B4-BE49-F238E27FC236}">
                <a16:creationId xmlns:a16="http://schemas.microsoft.com/office/drawing/2014/main" id="{CAA53E36-94FA-5503-F6CF-AC818203D64C}"/>
              </a:ext>
            </a:extLst>
          </p:cNvPr>
          <p:cNvSpPr/>
          <p:nvPr/>
        </p:nvSpPr>
        <p:spPr>
          <a:xfrm>
            <a:off x="6325299" y="950728"/>
            <a:ext cx="322976" cy="30200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1</a:t>
            </a:r>
          </a:p>
        </p:txBody>
      </p:sp>
      <p:grpSp>
        <p:nvGrpSpPr>
          <p:cNvPr id="12" name="Group 11">
            <a:extLst>
              <a:ext uri="{FF2B5EF4-FFF2-40B4-BE49-F238E27FC236}">
                <a16:creationId xmlns:a16="http://schemas.microsoft.com/office/drawing/2014/main" id="{1503AEA8-02DA-C0CC-9F16-B2C610F36DC2}"/>
              </a:ext>
            </a:extLst>
          </p:cNvPr>
          <p:cNvGrpSpPr/>
          <p:nvPr/>
        </p:nvGrpSpPr>
        <p:grpSpPr>
          <a:xfrm>
            <a:off x="9356440" y="2937864"/>
            <a:ext cx="2425825" cy="3429176"/>
            <a:chOff x="9220028" y="2954642"/>
            <a:chExt cx="2425825" cy="3429176"/>
          </a:xfrm>
        </p:grpSpPr>
        <p:pic>
          <p:nvPicPr>
            <p:cNvPr id="8" name="Picture 7">
              <a:extLst>
                <a:ext uri="{FF2B5EF4-FFF2-40B4-BE49-F238E27FC236}">
                  <a16:creationId xmlns:a16="http://schemas.microsoft.com/office/drawing/2014/main" id="{56D17BD2-E87D-F557-7689-EB8A845987B9}"/>
                </a:ext>
              </a:extLst>
            </p:cNvPr>
            <p:cNvPicPr>
              <a:picLocks noChangeAspect="1"/>
            </p:cNvPicPr>
            <p:nvPr/>
          </p:nvPicPr>
          <p:blipFill>
            <a:blip r:embed="rId3"/>
            <a:stretch>
              <a:fillRect/>
            </a:stretch>
          </p:blipFill>
          <p:spPr>
            <a:xfrm>
              <a:off x="9220028" y="2954642"/>
              <a:ext cx="2425825" cy="3429176"/>
            </a:xfrm>
            <a:prstGeom prst="rect">
              <a:avLst/>
            </a:prstGeom>
          </p:spPr>
        </p:pic>
        <p:sp>
          <p:nvSpPr>
            <p:cNvPr id="11" name="Rectangle 10">
              <a:extLst>
                <a:ext uri="{FF2B5EF4-FFF2-40B4-BE49-F238E27FC236}">
                  <a16:creationId xmlns:a16="http://schemas.microsoft.com/office/drawing/2014/main" id="{28A95365-00EE-0EA6-0BE4-7BECEDB61B72}"/>
                </a:ext>
              </a:extLst>
            </p:cNvPr>
            <p:cNvSpPr/>
            <p:nvPr/>
          </p:nvSpPr>
          <p:spPr>
            <a:xfrm>
              <a:off x="9318691" y="3042407"/>
              <a:ext cx="322976" cy="30200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2</a:t>
              </a:r>
            </a:p>
          </p:txBody>
        </p:sp>
      </p:grpSp>
    </p:spTree>
    <p:extLst>
      <p:ext uri="{BB962C8B-B14F-4D97-AF65-F5344CB8AC3E}">
        <p14:creationId xmlns:p14="http://schemas.microsoft.com/office/powerpoint/2010/main" val="3382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DEEED-8791-B43E-1EA4-A50C8288FC99}"/>
              </a:ext>
            </a:extLst>
          </p:cNvPr>
          <p:cNvSpPr>
            <a:spLocks noGrp="1"/>
          </p:cNvSpPr>
          <p:nvPr>
            <p:ph type="title"/>
          </p:nvPr>
        </p:nvSpPr>
        <p:spPr/>
        <p:txBody>
          <a:bodyPr/>
          <a:lstStyle/>
          <a:p>
            <a:r>
              <a:rPr lang="en-US" dirty="0"/>
              <a:t>Construction</a:t>
            </a:r>
          </a:p>
        </p:txBody>
      </p:sp>
      <p:sp>
        <p:nvSpPr>
          <p:cNvPr id="3" name="Content Placeholder 2">
            <a:extLst>
              <a:ext uri="{FF2B5EF4-FFF2-40B4-BE49-F238E27FC236}">
                <a16:creationId xmlns:a16="http://schemas.microsoft.com/office/drawing/2014/main" id="{A4D38E8E-F799-3FE6-CF91-41967DCDFBB3}"/>
              </a:ext>
            </a:extLst>
          </p:cNvPr>
          <p:cNvSpPr>
            <a:spLocks noGrp="1"/>
          </p:cNvSpPr>
          <p:nvPr>
            <p:ph sz="half" idx="1"/>
          </p:nvPr>
        </p:nvSpPr>
        <p:spPr/>
        <p:txBody>
          <a:bodyPr/>
          <a:lstStyle/>
          <a:p>
            <a:r>
              <a:rPr lang="en-US" dirty="0"/>
              <a:t>Picture 3 shows a prototype mount used to hold servo in place.  This proved too restrictive and was replaced with a different prototype 3d printed mount</a:t>
            </a:r>
          </a:p>
          <a:p>
            <a:r>
              <a:rPr lang="en-US" dirty="0"/>
              <a:t>Picture 4 shows the lora antenna through the door with the proof of life led shining through</a:t>
            </a:r>
          </a:p>
        </p:txBody>
      </p:sp>
      <p:pic>
        <p:nvPicPr>
          <p:cNvPr id="6" name="Content Placeholder 5">
            <a:extLst>
              <a:ext uri="{FF2B5EF4-FFF2-40B4-BE49-F238E27FC236}">
                <a16:creationId xmlns:a16="http://schemas.microsoft.com/office/drawing/2014/main" id="{7FA9E975-F8E4-70CA-AA0B-CD577F1609A8}"/>
              </a:ext>
            </a:extLst>
          </p:cNvPr>
          <p:cNvPicPr>
            <a:picLocks noGrp="1" noChangeAspect="1"/>
          </p:cNvPicPr>
          <p:nvPr>
            <p:ph sz="half" idx="2"/>
          </p:nvPr>
        </p:nvPicPr>
        <p:blipFill>
          <a:blip r:embed="rId2"/>
          <a:stretch>
            <a:fillRect/>
          </a:stretch>
        </p:blipFill>
        <p:spPr>
          <a:xfrm>
            <a:off x="6569009" y="1825625"/>
            <a:ext cx="2559182" cy="1778091"/>
          </a:xfrm>
          <a:prstGeom prst="rect">
            <a:avLst/>
          </a:prstGeom>
        </p:spPr>
      </p:pic>
      <p:pic>
        <p:nvPicPr>
          <p:cNvPr id="10" name="Picture 9">
            <a:extLst>
              <a:ext uri="{FF2B5EF4-FFF2-40B4-BE49-F238E27FC236}">
                <a16:creationId xmlns:a16="http://schemas.microsoft.com/office/drawing/2014/main" id="{4B93BFC0-E489-0584-7821-4E89C03AD30E}"/>
              </a:ext>
            </a:extLst>
          </p:cNvPr>
          <p:cNvPicPr>
            <a:picLocks noChangeAspect="1"/>
          </p:cNvPicPr>
          <p:nvPr/>
        </p:nvPicPr>
        <p:blipFill>
          <a:blip r:embed="rId3"/>
          <a:stretch>
            <a:fillRect/>
          </a:stretch>
        </p:blipFill>
        <p:spPr>
          <a:xfrm>
            <a:off x="8888128" y="3633326"/>
            <a:ext cx="2914800" cy="2787793"/>
          </a:xfrm>
          <a:prstGeom prst="rect">
            <a:avLst/>
          </a:prstGeom>
        </p:spPr>
      </p:pic>
      <p:sp>
        <p:nvSpPr>
          <p:cNvPr id="12" name="Rectangle 11">
            <a:extLst>
              <a:ext uri="{FF2B5EF4-FFF2-40B4-BE49-F238E27FC236}">
                <a16:creationId xmlns:a16="http://schemas.microsoft.com/office/drawing/2014/main" id="{AD79E148-9DB3-4105-FDE0-6DED68B6399D}"/>
              </a:ext>
            </a:extLst>
          </p:cNvPr>
          <p:cNvSpPr/>
          <p:nvPr/>
        </p:nvSpPr>
        <p:spPr>
          <a:xfrm>
            <a:off x="6686025" y="1890295"/>
            <a:ext cx="322976" cy="30200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3</a:t>
            </a:r>
          </a:p>
        </p:txBody>
      </p:sp>
      <p:sp>
        <p:nvSpPr>
          <p:cNvPr id="14" name="Rectangle 13">
            <a:extLst>
              <a:ext uri="{FF2B5EF4-FFF2-40B4-BE49-F238E27FC236}">
                <a16:creationId xmlns:a16="http://schemas.microsoft.com/office/drawing/2014/main" id="{CD5779BE-B132-D4D7-4CB9-84DCDE294409}"/>
              </a:ext>
            </a:extLst>
          </p:cNvPr>
          <p:cNvSpPr/>
          <p:nvPr/>
        </p:nvSpPr>
        <p:spPr>
          <a:xfrm>
            <a:off x="8966703" y="3738653"/>
            <a:ext cx="322976" cy="30200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4</a:t>
            </a:r>
          </a:p>
        </p:txBody>
      </p:sp>
    </p:spTree>
    <p:extLst>
      <p:ext uri="{BB962C8B-B14F-4D97-AF65-F5344CB8AC3E}">
        <p14:creationId xmlns:p14="http://schemas.microsoft.com/office/powerpoint/2010/main" val="4235268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078C-666B-5D36-5E58-74C53C35D77D}"/>
              </a:ext>
            </a:extLst>
          </p:cNvPr>
          <p:cNvSpPr>
            <a:spLocks noGrp="1"/>
          </p:cNvSpPr>
          <p:nvPr>
            <p:ph type="title"/>
          </p:nvPr>
        </p:nvSpPr>
        <p:spPr/>
        <p:txBody>
          <a:bodyPr/>
          <a:lstStyle/>
          <a:p>
            <a:r>
              <a:rPr lang="en-US" dirty="0"/>
              <a:t>Construction</a:t>
            </a:r>
          </a:p>
        </p:txBody>
      </p:sp>
      <p:sp>
        <p:nvSpPr>
          <p:cNvPr id="3" name="Content Placeholder 2">
            <a:extLst>
              <a:ext uri="{FF2B5EF4-FFF2-40B4-BE49-F238E27FC236}">
                <a16:creationId xmlns:a16="http://schemas.microsoft.com/office/drawing/2014/main" id="{312B1CC8-2C27-0E12-434A-8FBC1AE1C211}"/>
              </a:ext>
            </a:extLst>
          </p:cNvPr>
          <p:cNvSpPr>
            <a:spLocks noGrp="1"/>
          </p:cNvSpPr>
          <p:nvPr>
            <p:ph sz="half" idx="1"/>
          </p:nvPr>
        </p:nvSpPr>
        <p:spPr/>
        <p:txBody>
          <a:bodyPr>
            <a:normAutofit lnSpcReduction="10000"/>
          </a:bodyPr>
          <a:lstStyle/>
          <a:p>
            <a:r>
              <a:rPr lang="en-US" dirty="0"/>
              <a:t>Image 5 shows the inside </a:t>
            </a:r>
            <a:r>
              <a:rPr lang="en-US" dirty="0" err="1"/>
              <a:t>heltec</a:t>
            </a:r>
            <a:r>
              <a:rPr lang="en-US" dirty="0"/>
              <a:t> in case with 5v power block.  This allows it to be plugged into any outlet and be powered and run out of the away somewhere else in the house</a:t>
            </a:r>
          </a:p>
          <a:p>
            <a:r>
              <a:rPr lang="en-US" dirty="0"/>
              <a:t>Image 6 shows the control software interface that runs on a webserver programmed into the inside </a:t>
            </a:r>
            <a:r>
              <a:rPr lang="en-US" dirty="0" err="1"/>
              <a:t>heltec</a:t>
            </a:r>
            <a:endParaRPr lang="en-US" dirty="0"/>
          </a:p>
        </p:txBody>
      </p:sp>
      <p:grpSp>
        <p:nvGrpSpPr>
          <p:cNvPr id="7" name="Group 6">
            <a:extLst>
              <a:ext uri="{FF2B5EF4-FFF2-40B4-BE49-F238E27FC236}">
                <a16:creationId xmlns:a16="http://schemas.microsoft.com/office/drawing/2014/main" id="{414C0810-965D-03C3-F495-12E4FFAB818D}"/>
              </a:ext>
            </a:extLst>
          </p:cNvPr>
          <p:cNvGrpSpPr/>
          <p:nvPr/>
        </p:nvGrpSpPr>
        <p:grpSpPr>
          <a:xfrm>
            <a:off x="6511982" y="1874694"/>
            <a:ext cx="1868620" cy="2383107"/>
            <a:chOff x="6511982" y="1874694"/>
            <a:chExt cx="1868620" cy="2383107"/>
          </a:xfrm>
        </p:grpSpPr>
        <p:pic>
          <p:nvPicPr>
            <p:cNvPr id="1026" name="Picture 2">
              <a:extLst>
                <a:ext uri="{FF2B5EF4-FFF2-40B4-BE49-F238E27FC236}">
                  <a16:creationId xmlns:a16="http://schemas.microsoft.com/office/drawing/2014/main" id="{2516BCBE-24EC-89DD-445B-031E12B14535}"/>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a:fillRect/>
            </a:stretch>
          </p:blipFill>
          <p:spPr bwMode="auto">
            <a:xfrm>
              <a:off x="6511982" y="1874694"/>
              <a:ext cx="1868620" cy="2383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201C2766-D367-B6AB-4D8F-07992DBDE3F2}"/>
                </a:ext>
              </a:extLst>
            </p:cNvPr>
            <p:cNvSpPr/>
            <p:nvPr/>
          </p:nvSpPr>
          <p:spPr>
            <a:xfrm>
              <a:off x="6601007" y="1951798"/>
              <a:ext cx="322976" cy="30200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5</a:t>
              </a:r>
            </a:p>
          </p:txBody>
        </p:sp>
      </p:grpSp>
      <p:pic>
        <p:nvPicPr>
          <p:cNvPr id="1027" name="Picture 3">
            <a:extLst>
              <a:ext uri="{FF2B5EF4-FFF2-40B4-BE49-F238E27FC236}">
                <a16:creationId xmlns:a16="http://schemas.microsoft.com/office/drawing/2014/main" id="{FDCC52C2-060D-1EB5-ACD6-D0E67215F03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107" t="-348"/>
          <a:stretch>
            <a:fillRect/>
          </a:stretch>
        </p:blipFill>
        <p:spPr bwMode="auto">
          <a:xfrm>
            <a:off x="8824214" y="2514600"/>
            <a:ext cx="2828969" cy="3751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EE0C13DD-732D-F657-F489-02FD7F0BE246}"/>
              </a:ext>
            </a:extLst>
          </p:cNvPr>
          <p:cNvSpPr/>
          <p:nvPr/>
        </p:nvSpPr>
        <p:spPr>
          <a:xfrm>
            <a:off x="8930350" y="2695622"/>
            <a:ext cx="322976" cy="30200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6</a:t>
            </a:r>
          </a:p>
        </p:txBody>
      </p:sp>
    </p:spTree>
    <p:extLst>
      <p:ext uri="{BB962C8B-B14F-4D97-AF65-F5344CB8AC3E}">
        <p14:creationId xmlns:p14="http://schemas.microsoft.com/office/powerpoint/2010/main" val="1611774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49968-3156-47DC-DF1E-9CA2CA0B65A7}"/>
              </a:ext>
            </a:extLst>
          </p:cNvPr>
          <p:cNvSpPr>
            <a:spLocks noGrp="1"/>
          </p:cNvSpPr>
          <p:nvPr>
            <p:ph type="title"/>
          </p:nvPr>
        </p:nvSpPr>
        <p:spPr/>
        <p:txBody>
          <a:bodyPr/>
          <a:lstStyle/>
          <a:p>
            <a:r>
              <a:rPr lang="en-US" dirty="0"/>
              <a:t>Output and Open Items</a:t>
            </a:r>
          </a:p>
        </p:txBody>
      </p:sp>
      <p:pic>
        <p:nvPicPr>
          <p:cNvPr id="5" name="IMG_3303">
            <a:hlinkClick r:id="" action="ppaction://media"/>
            <a:extLst>
              <a:ext uri="{FF2B5EF4-FFF2-40B4-BE49-F238E27FC236}">
                <a16:creationId xmlns:a16="http://schemas.microsoft.com/office/drawing/2014/main" id="{5C0745C8-31A1-5B3A-4C4F-17C5B5268B48}"/>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4"/>
          <a:stretch>
            <a:fillRect/>
          </a:stretch>
        </p:blipFill>
        <p:spPr>
          <a:xfrm>
            <a:off x="2197100" y="1825625"/>
            <a:ext cx="2465388" cy="4351338"/>
          </a:xfrm>
        </p:spPr>
      </p:pic>
      <p:sp>
        <p:nvSpPr>
          <p:cNvPr id="4" name="Content Placeholder 3">
            <a:extLst>
              <a:ext uri="{FF2B5EF4-FFF2-40B4-BE49-F238E27FC236}">
                <a16:creationId xmlns:a16="http://schemas.microsoft.com/office/drawing/2014/main" id="{60736C7D-3041-1E52-2C05-FAAA6974D512}"/>
              </a:ext>
            </a:extLst>
          </p:cNvPr>
          <p:cNvSpPr>
            <a:spLocks noGrp="1"/>
          </p:cNvSpPr>
          <p:nvPr>
            <p:ph sz="half" idx="2"/>
          </p:nvPr>
        </p:nvSpPr>
        <p:spPr/>
        <p:txBody>
          <a:bodyPr/>
          <a:lstStyle/>
          <a:p>
            <a:r>
              <a:rPr lang="en-US" dirty="0"/>
              <a:t>Web interface needs work:</a:t>
            </a:r>
          </a:p>
          <a:p>
            <a:pPr lvl="1"/>
            <a:r>
              <a:rPr lang="en-US" dirty="0"/>
              <a:t>Buttons don’t always switch colors</a:t>
            </a:r>
          </a:p>
          <a:p>
            <a:pPr lvl="1"/>
            <a:r>
              <a:rPr lang="en-US" dirty="0"/>
              <a:t>Feedback is not always displayed properly on webpage leading you to not know exactly which antenna is active</a:t>
            </a:r>
          </a:p>
          <a:p>
            <a:r>
              <a:rPr lang="en-US" dirty="0"/>
              <a:t>Clean up cabinet</a:t>
            </a:r>
          </a:p>
          <a:p>
            <a:r>
              <a:rPr lang="en-US" dirty="0"/>
              <a:t>Add cover over coax wires for water intrusion</a:t>
            </a:r>
          </a:p>
        </p:txBody>
      </p:sp>
    </p:spTree>
    <p:extLst>
      <p:ext uri="{BB962C8B-B14F-4D97-AF65-F5344CB8AC3E}">
        <p14:creationId xmlns:p14="http://schemas.microsoft.com/office/powerpoint/2010/main" val="179559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36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2BC94-37D1-E92C-0D12-5F9081D1A2DD}"/>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DAFD476F-839F-FD86-13E7-E88EFE7FD7C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26327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1412</TotalTime>
  <Words>531</Words>
  <Application>Microsoft Office PowerPoint</Application>
  <PresentationFormat>Widescreen</PresentationFormat>
  <Paragraphs>66</Paragraphs>
  <Slides>9</Slides>
  <Notes>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Homebrew Wireless Antenna Switcher</vt:lpstr>
      <vt:lpstr>Statement of Problem</vt:lpstr>
      <vt:lpstr>Equipment</vt:lpstr>
      <vt:lpstr>Setup</vt:lpstr>
      <vt:lpstr>Construction</vt:lpstr>
      <vt:lpstr>Construction</vt:lpstr>
      <vt:lpstr>Construction</vt:lpstr>
      <vt:lpstr>Output and Open Items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Nathaniel Butts</dc:creator>
  <cp:lastModifiedBy>Nathaniel Butts</cp:lastModifiedBy>
  <cp:revision>6</cp:revision>
  <dcterms:created xsi:type="dcterms:W3CDTF">2026-08-18T19:50:11Z</dcterms:created>
  <dcterms:modified xsi:type="dcterms:W3CDTF">2026-08-26T18:33:44Z</dcterms:modified>
</cp:coreProperties>
</file>